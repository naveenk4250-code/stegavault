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5254FB-2C7C-4CEA-BE8F-C22E8AAF12BB}" v="1" dt="2026-09-21T10:41:04.1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veen K" userId="aec192850b61c109" providerId="LiveId" clId="{B094CC34-694A-4A6D-AC29-1BD242D7FA01}"/>
    <pc:docChg chg="undo custSel addSld delSld modSld">
      <pc:chgData name="Naveen K" userId="aec192850b61c109" providerId="LiveId" clId="{B094CC34-694A-4A6D-AC29-1BD242D7FA01}" dt="2026-09-21T10:45:32.141" v="82" actId="14100"/>
      <pc:docMkLst>
        <pc:docMk/>
      </pc:docMkLst>
      <pc:sldChg chg="modSp mod">
        <pc:chgData name="Naveen K" userId="aec192850b61c109" providerId="LiveId" clId="{B094CC34-694A-4A6D-AC29-1BD242D7FA01}" dt="2026-09-15T10:34:50.759" v="0" actId="1036"/>
        <pc:sldMkLst>
          <pc:docMk/>
          <pc:sldMk cId="0" sldId="256"/>
        </pc:sldMkLst>
        <pc:picChg chg="mod">
          <ac:chgData name="Naveen K" userId="aec192850b61c109" providerId="LiveId" clId="{B094CC34-694A-4A6D-AC29-1BD242D7FA01}" dt="2026-09-15T10:34:50.759" v="0" actId="1036"/>
          <ac:picMkLst>
            <pc:docMk/>
            <pc:sldMk cId="0" sldId="256"/>
            <ac:picMk id="2" creationId="{00000000-0000-0000-0000-000000000000}"/>
          </ac:picMkLst>
        </pc:picChg>
      </pc:sldChg>
      <pc:sldChg chg="addSp delSp modSp mod">
        <pc:chgData name="Naveen K" userId="aec192850b61c109" providerId="LiveId" clId="{B094CC34-694A-4A6D-AC29-1BD242D7FA01}" dt="2026-09-21T10:28:20.599" v="4" actId="1076"/>
        <pc:sldMkLst>
          <pc:docMk/>
          <pc:sldMk cId="0" sldId="259"/>
        </pc:sldMkLst>
        <pc:spChg chg="del">
          <ac:chgData name="Naveen K" userId="aec192850b61c109" providerId="LiveId" clId="{B094CC34-694A-4A6D-AC29-1BD242D7FA01}" dt="2026-09-21T10:28:17.344" v="3" actId="478"/>
          <ac:spMkLst>
            <pc:docMk/>
            <pc:sldMk cId="0" sldId="259"/>
            <ac:spMk id="2" creationId="{00000000-0000-0000-0000-000000000000}"/>
          </ac:spMkLst>
        </pc:spChg>
        <pc:spChg chg="del">
          <ac:chgData name="Naveen K" userId="aec192850b61c109" providerId="LiveId" clId="{B094CC34-694A-4A6D-AC29-1BD242D7FA01}" dt="2026-09-21T10:28:17.344" v="3" actId="478"/>
          <ac:spMkLst>
            <pc:docMk/>
            <pc:sldMk cId="0" sldId="259"/>
            <ac:spMk id="5" creationId="{00000000-0000-0000-0000-000000000000}"/>
          </ac:spMkLst>
        </pc:spChg>
        <pc:spChg chg="del">
          <ac:chgData name="Naveen K" userId="aec192850b61c109" providerId="LiveId" clId="{B094CC34-694A-4A6D-AC29-1BD242D7FA01}" dt="2026-09-21T10:28:17.344" v="3" actId="478"/>
          <ac:spMkLst>
            <pc:docMk/>
            <pc:sldMk cId="0" sldId="259"/>
            <ac:spMk id="6" creationId="{00000000-0000-0000-0000-000000000000}"/>
          </ac:spMkLst>
        </pc:spChg>
        <pc:spChg chg="del">
          <ac:chgData name="Naveen K" userId="aec192850b61c109" providerId="LiveId" clId="{B094CC34-694A-4A6D-AC29-1BD242D7FA01}" dt="2026-09-21T10:28:17.344" v="3" actId="478"/>
          <ac:spMkLst>
            <pc:docMk/>
            <pc:sldMk cId="0" sldId="259"/>
            <ac:spMk id="8" creationId="{00000000-0000-0000-0000-000000000000}"/>
          </ac:spMkLst>
        </pc:spChg>
        <pc:spChg chg="del">
          <ac:chgData name="Naveen K" userId="aec192850b61c109" providerId="LiveId" clId="{B094CC34-694A-4A6D-AC29-1BD242D7FA01}" dt="2026-09-21T10:28:17.344" v="3" actId="478"/>
          <ac:spMkLst>
            <pc:docMk/>
            <pc:sldMk cId="0" sldId="259"/>
            <ac:spMk id="9" creationId="{00000000-0000-0000-0000-000000000000}"/>
          </ac:spMkLst>
        </pc:spChg>
        <pc:spChg chg="del">
          <ac:chgData name="Naveen K" userId="aec192850b61c109" providerId="LiveId" clId="{B094CC34-694A-4A6D-AC29-1BD242D7FA01}" dt="2026-09-21T10:28:17.344" v="3" actId="478"/>
          <ac:spMkLst>
            <pc:docMk/>
            <pc:sldMk cId="0" sldId="259"/>
            <ac:spMk id="12" creationId="{00000000-0000-0000-0000-000000000000}"/>
          </ac:spMkLst>
        </pc:spChg>
        <pc:spChg chg="del">
          <ac:chgData name="Naveen K" userId="aec192850b61c109" providerId="LiveId" clId="{B094CC34-694A-4A6D-AC29-1BD242D7FA01}" dt="2026-09-21T10:28:17.344" v="3" actId="478"/>
          <ac:spMkLst>
            <pc:docMk/>
            <pc:sldMk cId="0" sldId="259"/>
            <ac:spMk id="14" creationId="{00000000-0000-0000-0000-000000000000}"/>
          </ac:spMkLst>
        </pc:spChg>
        <pc:spChg chg="del">
          <ac:chgData name="Naveen K" userId="aec192850b61c109" providerId="LiveId" clId="{B094CC34-694A-4A6D-AC29-1BD242D7FA01}" dt="2026-09-21T10:28:17.344" v="3" actId="478"/>
          <ac:spMkLst>
            <pc:docMk/>
            <pc:sldMk cId="0" sldId="259"/>
            <ac:spMk id="17" creationId="{00000000-0000-0000-0000-000000000000}"/>
          </ac:spMkLst>
        </pc:spChg>
        <pc:spChg chg="del">
          <ac:chgData name="Naveen K" userId="aec192850b61c109" providerId="LiveId" clId="{B094CC34-694A-4A6D-AC29-1BD242D7FA01}" dt="2026-09-21T10:28:17.344" v="3" actId="478"/>
          <ac:spMkLst>
            <pc:docMk/>
            <pc:sldMk cId="0" sldId="259"/>
            <ac:spMk id="23" creationId="{00000000-0000-0000-0000-000000000000}"/>
          </ac:spMkLst>
        </pc:spChg>
        <pc:spChg chg="del">
          <ac:chgData name="Naveen K" userId="aec192850b61c109" providerId="LiveId" clId="{B094CC34-694A-4A6D-AC29-1BD242D7FA01}" dt="2026-09-21T10:28:17.344" v="3" actId="478"/>
          <ac:spMkLst>
            <pc:docMk/>
            <pc:sldMk cId="0" sldId="259"/>
            <ac:spMk id="24" creationId="{00000000-0000-0000-0000-000000000000}"/>
          </ac:spMkLst>
        </pc:spChg>
        <pc:picChg chg="add mod">
          <ac:chgData name="Naveen K" userId="aec192850b61c109" providerId="LiveId" clId="{B094CC34-694A-4A6D-AC29-1BD242D7FA01}" dt="2026-09-21T10:28:20.599" v="4" actId="1076"/>
          <ac:picMkLst>
            <pc:docMk/>
            <pc:sldMk cId="0" sldId="259"/>
            <ac:picMk id="28" creationId="{C53DC4FE-F56F-0E61-8371-E6960C240027}"/>
          </ac:picMkLst>
        </pc:picChg>
      </pc:sldChg>
      <pc:sldChg chg="addSp delSp modSp mod">
        <pc:chgData name="Naveen K" userId="aec192850b61c109" providerId="LiveId" clId="{B094CC34-694A-4A6D-AC29-1BD242D7FA01}" dt="2026-09-21T10:44:40.708" v="66" actId="207"/>
        <pc:sldMkLst>
          <pc:docMk/>
          <pc:sldMk cId="0" sldId="263"/>
        </pc:sldMkLst>
        <pc:spChg chg="mod">
          <ac:chgData name="Naveen K" userId="aec192850b61c109" providerId="LiveId" clId="{B094CC34-694A-4A6D-AC29-1BD242D7FA01}" dt="2026-09-21T10:42:02.491" v="19" actId="1076"/>
          <ac:spMkLst>
            <pc:docMk/>
            <pc:sldMk cId="0" sldId="263"/>
            <ac:spMk id="2" creationId="{00000000-0000-0000-0000-000000000000}"/>
          </ac:spMkLst>
        </pc:spChg>
        <pc:spChg chg="mod">
          <ac:chgData name="Naveen K" userId="aec192850b61c109" providerId="LiveId" clId="{B094CC34-694A-4A6D-AC29-1BD242D7FA01}" dt="2026-09-21T10:44:40.708" v="66" actId="207"/>
          <ac:spMkLst>
            <pc:docMk/>
            <pc:sldMk cId="0" sldId="263"/>
            <ac:spMk id="4" creationId="{00000000-0000-0000-0000-000000000000}"/>
          </ac:spMkLst>
        </pc:spChg>
        <pc:spChg chg="del mod">
          <ac:chgData name="Naveen K" userId="aec192850b61c109" providerId="LiveId" clId="{B094CC34-694A-4A6D-AC29-1BD242D7FA01}" dt="2026-09-21T10:43:07.220" v="44" actId="478"/>
          <ac:spMkLst>
            <pc:docMk/>
            <pc:sldMk cId="0" sldId="263"/>
            <ac:spMk id="5" creationId="{00000000-0000-0000-0000-000000000000}"/>
          </ac:spMkLst>
        </pc:spChg>
        <pc:spChg chg="del">
          <ac:chgData name="Naveen K" userId="aec192850b61c109" providerId="LiveId" clId="{B094CC34-694A-4A6D-AC29-1BD242D7FA01}" dt="2026-09-21T10:41:12.741" v="9" actId="478"/>
          <ac:spMkLst>
            <pc:docMk/>
            <pc:sldMk cId="0" sldId="263"/>
            <ac:spMk id="6" creationId="{00000000-0000-0000-0000-000000000000}"/>
          </ac:spMkLst>
        </pc:spChg>
        <pc:spChg chg="del">
          <ac:chgData name="Naveen K" userId="aec192850b61c109" providerId="LiveId" clId="{B094CC34-694A-4A6D-AC29-1BD242D7FA01}" dt="2026-09-21T10:41:10.943" v="8" actId="478"/>
          <ac:spMkLst>
            <pc:docMk/>
            <pc:sldMk cId="0" sldId="263"/>
            <ac:spMk id="7" creationId="{00000000-0000-0000-0000-000000000000}"/>
          </ac:spMkLst>
        </pc:spChg>
        <pc:spChg chg="del">
          <ac:chgData name="Naveen K" userId="aec192850b61c109" providerId="LiveId" clId="{B094CC34-694A-4A6D-AC29-1BD242D7FA01}" dt="2026-09-21T10:41:16.196" v="11" actId="478"/>
          <ac:spMkLst>
            <pc:docMk/>
            <pc:sldMk cId="0" sldId="263"/>
            <ac:spMk id="8" creationId="{00000000-0000-0000-0000-000000000000}"/>
          </ac:spMkLst>
        </pc:spChg>
        <pc:spChg chg="del">
          <ac:chgData name="Naveen K" userId="aec192850b61c109" providerId="LiveId" clId="{B094CC34-694A-4A6D-AC29-1BD242D7FA01}" dt="2026-09-21T10:41:21.462" v="14" actId="478"/>
          <ac:spMkLst>
            <pc:docMk/>
            <pc:sldMk cId="0" sldId="263"/>
            <ac:spMk id="9" creationId="{00000000-0000-0000-0000-000000000000}"/>
          </ac:spMkLst>
        </pc:spChg>
        <pc:spChg chg="del">
          <ac:chgData name="Naveen K" userId="aec192850b61c109" providerId="LiveId" clId="{B094CC34-694A-4A6D-AC29-1BD242D7FA01}" dt="2026-09-21T10:41:18.374" v="12" actId="478"/>
          <ac:spMkLst>
            <pc:docMk/>
            <pc:sldMk cId="0" sldId="263"/>
            <ac:spMk id="11" creationId="{00000000-0000-0000-0000-000000000000}"/>
          </ac:spMkLst>
        </pc:spChg>
        <pc:spChg chg="del">
          <ac:chgData name="Naveen K" userId="aec192850b61c109" providerId="LiveId" clId="{B094CC34-694A-4A6D-AC29-1BD242D7FA01}" dt="2026-09-21T10:41:14.281" v="10" actId="478"/>
          <ac:spMkLst>
            <pc:docMk/>
            <pc:sldMk cId="0" sldId="263"/>
            <ac:spMk id="12" creationId="{00000000-0000-0000-0000-000000000000}"/>
          </ac:spMkLst>
        </pc:spChg>
        <pc:spChg chg="del">
          <ac:chgData name="Naveen K" userId="aec192850b61c109" providerId="LiveId" clId="{B094CC34-694A-4A6D-AC29-1BD242D7FA01}" dt="2026-09-21T10:42:06.400" v="22" actId="478"/>
          <ac:spMkLst>
            <pc:docMk/>
            <pc:sldMk cId="0" sldId="263"/>
            <ac:spMk id="13" creationId="{00000000-0000-0000-0000-000000000000}"/>
          </ac:spMkLst>
        </pc:spChg>
        <pc:spChg chg="del">
          <ac:chgData name="Naveen K" userId="aec192850b61c109" providerId="LiveId" clId="{B094CC34-694A-4A6D-AC29-1BD242D7FA01}" dt="2026-09-21T10:42:14.326" v="27" actId="478"/>
          <ac:spMkLst>
            <pc:docMk/>
            <pc:sldMk cId="0" sldId="263"/>
            <ac:spMk id="14" creationId="{00000000-0000-0000-0000-000000000000}"/>
          </ac:spMkLst>
        </pc:spChg>
        <pc:spChg chg="del">
          <ac:chgData name="Naveen K" userId="aec192850b61c109" providerId="LiveId" clId="{B094CC34-694A-4A6D-AC29-1BD242D7FA01}" dt="2026-09-21T10:42:05.818" v="21" actId="478"/>
          <ac:spMkLst>
            <pc:docMk/>
            <pc:sldMk cId="0" sldId="263"/>
            <ac:spMk id="16" creationId="{00000000-0000-0000-0000-000000000000}"/>
          </ac:spMkLst>
        </pc:spChg>
        <pc:spChg chg="del mod">
          <ac:chgData name="Naveen K" userId="aec192850b61c109" providerId="LiveId" clId="{B094CC34-694A-4A6D-AC29-1BD242D7FA01}" dt="2026-09-21T10:42:52.517" v="40" actId="478"/>
          <ac:spMkLst>
            <pc:docMk/>
            <pc:sldMk cId="0" sldId="263"/>
            <ac:spMk id="17" creationId="{00000000-0000-0000-0000-000000000000}"/>
          </ac:spMkLst>
        </pc:spChg>
        <pc:spChg chg="del">
          <ac:chgData name="Naveen K" userId="aec192850b61c109" providerId="LiveId" clId="{B094CC34-694A-4A6D-AC29-1BD242D7FA01}" dt="2026-09-21T10:42:15.861" v="28" actId="478"/>
          <ac:spMkLst>
            <pc:docMk/>
            <pc:sldMk cId="0" sldId="263"/>
            <ac:spMk id="18" creationId="{00000000-0000-0000-0000-000000000000}"/>
          </ac:spMkLst>
        </pc:spChg>
        <pc:spChg chg="del">
          <ac:chgData name="Naveen K" userId="aec192850b61c109" providerId="LiveId" clId="{B094CC34-694A-4A6D-AC29-1BD242D7FA01}" dt="2026-09-21T10:42:20.370" v="30" actId="478"/>
          <ac:spMkLst>
            <pc:docMk/>
            <pc:sldMk cId="0" sldId="263"/>
            <ac:spMk id="19" creationId="{00000000-0000-0000-0000-000000000000}"/>
          </ac:spMkLst>
        </pc:spChg>
        <pc:spChg chg="mod">
          <ac:chgData name="Naveen K" userId="aec192850b61c109" providerId="LiveId" clId="{B094CC34-694A-4A6D-AC29-1BD242D7FA01}" dt="2026-09-21T10:42:24.493" v="32" actId="20577"/>
          <ac:spMkLst>
            <pc:docMk/>
            <pc:sldMk cId="0" sldId="263"/>
            <ac:spMk id="21" creationId="{00000000-0000-0000-0000-000000000000}"/>
          </ac:spMkLst>
        </pc:spChg>
        <pc:spChg chg="mod">
          <ac:chgData name="Naveen K" userId="aec192850b61c109" providerId="LiveId" clId="{B094CC34-694A-4A6D-AC29-1BD242D7FA01}" dt="2026-09-21T10:42:27.471" v="33" actId="20577"/>
          <ac:spMkLst>
            <pc:docMk/>
            <pc:sldMk cId="0" sldId="263"/>
            <ac:spMk id="22" creationId="{00000000-0000-0000-0000-000000000000}"/>
          </ac:spMkLst>
        </pc:spChg>
        <pc:spChg chg="del">
          <ac:chgData name="Naveen K" userId="aec192850b61c109" providerId="LiveId" clId="{B094CC34-694A-4A6D-AC29-1BD242D7FA01}" dt="2026-09-21T10:42:45.753" v="38" actId="478"/>
          <ac:spMkLst>
            <pc:docMk/>
            <pc:sldMk cId="0" sldId="263"/>
            <ac:spMk id="24" creationId="{00000000-0000-0000-0000-000000000000}"/>
          </ac:spMkLst>
        </pc:spChg>
        <pc:spChg chg="del">
          <ac:chgData name="Naveen K" userId="aec192850b61c109" providerId="LiveId" clId="{B094CC34-694A-4A6D-AC29-1BD242D7FA01}" dt="2026-09-21T10:42:45.753" v="38" actId="478"/>
          <ac:spMkLst>
            <pc:docMk/>
            <pc:sldMk cId="0" sldId="263"/>
            <ac:spMk id="26" creationId="{00000000-0000-0000-0000-000000000000}"/>
          </ac:spMkLst>
        </pc:spChg>
        <pc:spChg chg="del">
          <ac:chgData name="Naveen K" userId="aec192850b61c109" providerId="LiveId" clId="{B094CC34-694A-4A6D-AC29-1BD242D7FA01}" dt="2026-09-21T10:42:45.753" v="38" actId="478"/>
          <ac:spMkLst>
            <pc:docMk/>
            <pc:sldMk cId="0" sldId="263"/>
            <ac:spMk id="27" creationId="{00000000-0000-0000-0000-000000000000}"/>
          </ac:spMkLst>
        </pc:spChg>
        <pc:spChg chg="del">
          <ac:chgData name="Naveen K" userId="aec192850b61c109" providerId="LiveId" clId="{B094CC34-694A-4A6D-AC29-1BD242D7FA01}" dt="2026-09-21T10:42:45.753" v="38" actId="478"/>
          <ac:spMkLst>
            <pc:docMk/>
            <pc:sldMk cId="0" sldId="263"/>
            <ac:spMk id="28" creationId="{00000000-0000-0000-0000-000000000000}"/>
          </ac:spMkLst>
        </pc:spChg>
        <pc:spChg chg="del">
          <ac:chgData name="Naveen K" userId="aec192850b61c109" providerId="LiveId" clId="{B094CC34-694A-4A6D-AC29-1BD242D7FA01}" dt="2026-09-21T10:42:33.363" v="35" actId="478"/>
          <ac:spMkLst>
            <pc:docMk/>
            <pc:sldMk cId="0" sldId="263"/>
            <ac:spMk id="29" creationId="{00000000-0000-0000-0000-000000000000}"/>
          </ac:spMkLst>
        </pc:spChg>
        <pc:spChg chg="del">
          <ac:chgData name="Naveen K" userId="aec192850b61c109" providerId="LiveId" clId="{B094CC34-694A-4A6D-AC29-1BD242D7FA01}" dt="2026-09-21T10:42:35.848" v="36" actId="478"/>
          <ac:spMkLst>
            <pc:docMk/>
            <pc:sldMk cId="0" sldId="263"/>
            <ac:spMk id="30" creationId="{00000000-0000-0000-0000-000000000000}"/>
          </ac:spMkLst>
        </pc:spChg>
        <pc:spChg chg="del">
          <ac:chgData name="Naveen K" userId="aec192850b61c109" providerId="LiveId" clId="{B094CC34-694A-4A6D-AC29-1BD242D7FA01}" dt="2026-09-21T10:42:45.753" v="38" actId="478"/>
          <ac:spMkLst>
            <pc:docMk/>
            <pc:sldMk cId="0" sldId="263"/>
            <ac:spMk id="31" creationId="{00000000-0000-0000-0000-000000000000}"/>
          </ac:spMkLst>
        </pc:spChg>
        <pc:spChg chg="del">
          <ac:chgData name="Naveen K" userId="aec192850b61c109" providerId="LiveId" clId="{B094CC34-694A-4A6D-AC29-1BD242D7FA01}" dt="2026-09-21T10:42:39.729" v="37" actId="478"/>
          <ac:spMkLst>
            <pc:docMk/>
            <pc:sldMk cId="0" sldId="263"/>
            <ac:spMk id="33" creationId="{00000000-0000-0000-0000-000000000000}"/>
          </ac:spMkLst>
        </pc:spChg>
        <pc:spChg chg="del">
          <ac:chgData name="Naveen K" userId="aec192850b61c109" providerId="LiveId" clId="{B094CC34-694A-4A6D-AC29-1BD242D7FA01}" dt="2026-09-21T10:42:31.482" v="34" actId="478"/>
          <ac:spMkLst>
            <pc:docMk/>
            <pc:sldMk cId="0" sldId="263"/>
            <ac:spMk id="34" creationId="{00000000-0000-0000-0000-000000000000}"/>
          </ac:spMkLst>
        </pc:spChg>
        <pc:spChg chg="del">
          <ac:chgData name="Naveen K" userId="aec192850b61c109" providerId="LiveId" clId="{B094CC34-694A-4A6D-AC29-1BD242D7FA01}" dt="2026-09-21T10:42:45.753" v="38" actId="478"/>
          <ac:spMkLst>
            <pc:docMk/>
            <pc:sldMk cId="0" sldId="263"/>
            <ac:spMk id="35" creationId="{00000000-0000-0000-0000-000000000000}"/>
          </ac:spMkLst>
        </pc:spChg>
        <pc:spChg chg="del">
          <ac:chgData name="Naveen K" userId="aec192850b61c109" providerId="LiveId" clId="{B094CC34-694A-4A6D-AC29-1BD242D7FA01}" dt="2026-09-21T10:42:45.753" v="38" actId="478"/>
          <ac:spMkLst>
            <pc:docMk/>
            <pc:sldMk cId="0" sldId="263"/>
            <ac:spMk id="37" creationId="{00000000-0000-0000-0000-000000000000}"/>
          </ac:spMkLst>
        </pc:spChg>
        <pc:spChg chg="del">
          <ac:chgData name="Naveen K" userId="aec192850b61c109" providerId="LiveId" clId="{B094CC34-694A-4A6D-AC29-1BD242D7FA01}" dt="2026-09-21T10:42:45.753" v="38" actId="478"/>
          <ac:spMkLst>
            <pc:docMk/>
            <pc:sldMk cId="0" sldId="263"/>
            <ac:spMk id="38" creationId="{00000000-0000-0000-0000-000000000000}"/>
          </ac:spMkLst>
        </pc:spChg>
        <pc:spChg chg="del">
          <ac:chgData name="Naveen K" userId="aec192850b61c109" providerId="LiveId" clId="{B094CC34-694A-4A6D-AC29-1BD242D7FA01}" dt="2026-09-21T10:42:45.753" v="38" actId="478"/>
          <ac:spMkLst>
            <pc:docMk/>
            <pc:sldMk cId="0" sldId="263"/>
            <ac:spMk id="39" creationId="{00000000-0000-0000-0000-000000000000}"/>
          </ac:spMkLst>
        </pc:spChg>
        <pc:spChg chg="mod">
          <ac:chgData name="Naveen K" userId="aec192850b61c109" providerId="LiveId" clId="{B094CC34-694A-4A6D-AC29-1BD242D7FA01}" dt="2026-09-21T10:42:55.786" v="41" actId="20577"/>
          <ac:spMkLst>
            <pc:docMk/>
            <pc:sldMk cId="0" sldId="263"/>
            <ac:spMk id="41" creationId="{00000000-0000-0000-0000-000000000000}"/>
          </ac:spMkLst>
        </pc:spChg>
        <pc:spChg chg="mod">
          <ac:chgData name="Naveen K" userId="aec192850b61c109" providerId="LiveId" clId="{B094CC34-694A-4A6D-AC29-1BD242D7FA01}" dt="2026-09-21T10:43:00.198" v="43" actId="20577"/>
          <ac:spMkLst>
            <pc:docMk/>
            <pc:sldMk cId="0" sldId="263"/>
            <ac:spMk id="42" creationId="{00000000-0000-0000-0000-000000000000}"/>
          </ac:spMkLst>
        </pc:spChg>
        <pc:spChg chg="del">
          <ac:chgData name="Naveen K" userId="aec192850b61c109" providerId="LiveId" clId="{B094CC34-694A-4A6D-AC29-1BD242D7FA01}" dt="2026-09-21T10:42:45.753" v="38" actId="478"/>
          <ac:spMkLst>
            <pc:docMk/>
            <pc:sldMk cId="0" sldId="263"/>
            <ac:spMk id="43" creationId="{00000000-0000-0000-0000-000000000000}"/>
          </ac:spMkLst>
        </pc:spChg>
        <pc:spChg chg="mod">
          <ac:chgData name="Naveen K" userId="aec192850b61c109" providerId="LiveId" clId="{B094CC34-694A-4A6D-AC29-1BD242D7FA01}" dt="2026-09-21T10:42:57.804" v="42" actId="20577"/>
          <ac:spMkLst>
            <pc:docMk/>
            <pc:sldMk cId="0" sldId="263"/>
            <ac:spMk id="44" creationId="{00000000-0000-0000-0000-000000000000}"/>
          </ac:spMkLst>
        </pc:spChg>
        <pc:spChg chg="add del mod">
          <ac:chgData name="Naveen K" userId="aec192850b61c109" providerId="LiveId" clId="{B094CC34-694A-4A6D-AC29-1BD242D7FA01}" dt="2026-09-21T10:41:07.567" v="7" actId="478"/>
          <ac:spMkLst>
            <pc:docMk/>
            <pc:sldMk cId="0" sldId="263"/>
            <ac:spMk id="48" creationId="{251FEE00-6C24-2E39-B376-44461408733E}"/>
          </ac:spMkLst>
        </pc:spChg>
        <pc:spChg chg="add del mod">
          <ac:chgData name="Naveen K" userId="aec192850b61c109" providerId="LiveId" clId="{B094CC34-694A-4A6D-AC29-1BD242D7FA01}" dt="2026-09-21T10:41:07.567" v="7" actId="478"/>
          <ac:spMkLst>
            <pc:docMk/>
            <pc:sldMk cId="0" sldId="263"/>
            <ac:spMk id="49" creationId="{14A5DD15-DBAC-5BCE-288E-6D02056C283F}"/>
          </ac:spMkLst>
        </pc:spChg>
        <pc:spChg chg="add del mod">
          <ac:chgData name="Naveen K" userId="aec192850b61c109" providerId="LiveId" clId="{B094CC34-694A-4A6D-AC29-1BD242D7FA01}" dt="2026-09-21T10:41:07.567" v="7" actId="478"/>
          <ac:spMkLst>
            <pc:docMk/>
            <pc:sldMk cId="0" sldId="263"/>
            <ac:spMk id="50" creationId="{DC531046-EF6C-8DB3-2105-16257E934C56}"/>
          </ac:spMkLst>
        </pc:spChg>
        <pc:spChg chg="add del mod">
          <ac:chgData name="Naveen K" userId="aec192850b61c109" providerId="LiveId" clId="{B094CC34-694A-4A6D-AC29-1BD242D7FA01}" dt="2026-09-21T10:41:07.567" v="7" actId="478"/>
          <ac:spMkLst>
            <pc:docMk/>
            <pc:sldMk cId="0" sldId="263"/>
            <ac:spMk id="52" creationId="{C34A4594-C608-DDC5-E71D-71E4FEB68836}"/>
          </ac:spMkLst>
        </pc:spChg>
        <pc:picChg chg="mod">
          <ac:chgData name="Naveen K" userId="aec192850b61c109" providerId="LiveId" clId="{B094CC34-694A-4A6D-AC29-1BD242D7FA01}" dt="2026-09-21T10:42:02.680" v="20" actId="1076"/>
          <ac:picMkLst>
            <pc:docMk/>
            <pc:sldMk cId="0" sldId="263"/>
            <ac:picMk id="3" creationId="{00000000-0000-0000-0000-000000000000}"/>
          </ac:picMkLst>
        </pc:picChg>
        <pc:picChg chg="del">
          <ac:chgData name="Naveen K" userId="aec192850b61c109" providerId="LiveId" clId="{B094CC34-694A-4A6D-AC29-1BD242D7FA01}" dt="2026-09-21T10:41:20.122" v="13" actId="478"/>
          <ac:picMkLst>
            <pc:docMk/>
            <pc:sldMk cId="0" sldId="263"/>
            <ac:picMk id="10" creationId="{00000000-0000-0000-0000-000000000000}"/>
          </ac:picMkLst>
        </pc:picChg>
        <pc:picChg chg="del">
          <ac:chgData name="Naveen K" userId="aec192850b61c109" providerId="LiveId" clId="{B094CC34-694A-4A6D-AC29-1BD242D7FA01}" dt="2026-09-21T10:42:13.155" v="26" actId="478"/>
          <ac:picMkLst>
            <pc:docMk/>
            <pc:sldMk cId="0" sldId="263"/>
            <ac:picMk id="15" creationId="{00000000-0000-0000-0000-000000000000}"/>
          </ac:picMkLst>
        </pc:picChg>
        <pc:picChg chg="del">
          <ac:chgData name="Naveen K" userId="aec192850b61c109" providerId="LiveId" clId="{B094CC34-694A-4A6D-AC29-1BD242D7FA01}" dt="2026-09-21T10:42:18.661" v="29" actId="478"/>
          <ac:picMkLst>
            <pc:docMk/>
            <pc:sldMk cId="0" sldId="263"/>
            <ac:picMk id="20" creationId="{00000000-0000-0000-0000-000000000000}"/>
          </ac:picMkLst>
        </pc:picChg>
        <pc:picChg chg="add del mod">
          <ac:chgData name="Naveen K" userId="aec192850b61c109" providerId="LiveId" clId="{B094CC34-694A-4A6D-AC29-1BD242D7FA01}" dt="2026-09-21T10:41:07.567" v="7" actId="478"/>
          <ac:picMkLst>
            <pc:docMk/>
            <pc:sldMk cId="0" sldId="263"/>
            <ac:picMk id="51" creationId="{A76C3FF7-5A15-87AF-A91F-8259A2C6B19C}"/>
          </ac:picMkLst>
        </pc:picChg>
        <pc:picChg chg="add mod">
          <ac:chgData name="Naveen K" userId="aec192850b61c109" providerId="LiveId" clId="{B094CC34-694A-4A6D-AC29-1BD242D7FA01}" dt="2026-09-21T10:41:49.132" v="16" actId="1076"/>
          <ac:picMkLst>
            <pc:docMk/>
            <pc:sldMk cId="0" sldId="263"/>
            <ac:picMk id="54" creationId="{CE15783A-B50D-58C4-33EA-A9F21989DB7D}"/>
          </ac:picMkLst>
        </pc:picChg>
        <pc:picChg chg="add mod">
          <ac:chgData name="Naveen K" userId="aec192850b61c109" providerId="LiveId" clId="{B094CC34-694A-4A6D-AC29-1BD242D7FA01}" dt="2026-09-21T10:43:59.750" v="53" actId="14100"/>
          <ac:picMkLst>
            <pc:docMk/>
            <pc:sldMk cId="0" sldId="263"/>
            <ac:picMk id="56" creationId="{9F3C7D34-45FD-1E63-7735-56DE6CFE0C8A}"/>
          </ac:picMkLst>
        </pc:picChg>
      </pc:sldChg>
      <pc:sldChg chg="new del">
        <pc:chgData name="Naveen K" userId="aec192850b61c109" providerId="LiveId" clId="{B094CC34-694A-4A6D-AC29-1BD242D7FA01}" dt="2026-09-21T10:44:13.488" v="55" actId="47"/>
        <pc:sldMkLst>
          <pc:docMk/>
          <pc:sldMk cId="2103978727" sldId="273"/>
        </pc:sldMkLst>
      </pc:sldChg>
      <pc:sldChg chg="addSp delSp modSp add mod">
        <pc:chgData name="Naveen K" userId="aec192850b61c109" providerId="LiveId" clId="{B094CC34-694A-4A6D-AC29-1BD242D7FA01}" dt="2026-09-21T10:45:32.141" v="82" actId="14100"/>
        <pc:sldMkLst>
          <pc:docMk/>
          <pc:sldMk cId="2738016964" sldId="273"/>
        </pc:sldMkLst>
        <pc:spChg chg="mod">
          <ac:chgData name="Naveen K" userId="aec192850b61c109" providerId="LiveId" clId="{B094CC34-694A-4A6D-AC29-1BD242D7FA01}" dt="2026-09-21T10:44:56.005" v="75" actId="207"/>
          <ac:spMkLst>
            <pc:docMk/>
            <pc:sldMk cId="2738016964" sldId="273"/>
            <ac:spMk id="4" creationId="{556B53C6-56E6-2843-33DA-8C907731FE8E}"/>
          </ac:spMkLst>
        </pc:spChg>
        <pc:picChg chg="add mod">
          <ac:chgData name="Naveen K" userId="aec192850b61c109" providerId="LiveId" clId="{B094CC34-694A-4A6D-AC29-1BD242D7FA01}" dt="2026-09-21T10:45:32.141" v="82" actId="14100"/>
          <ac:picMkLst>
            <pc:docMk/>
            <pc:sldMk cId="2738016964" sldId="273"/>
            <ac:picMk id="6" creationId="{B25047E7-4128-1FE7-FE45-4555D6AAE0FE}"/>
          </ac:picMkLst>
        </pc:picChg>
        <pc:picChg chg="del">
          <ac:chgData name="Naveen K" userId="aec192850b61c109" providerId="LiveId" clId="{B094CC34-694A-4A6D-AC29-1BD242D7FA01}" dt="2026-09-21T10:44:21.109" v="57" actId="478"/>
          <ac:picMkLst>
            <pc:docMk/>
            <pc:sldMk cId="2738016964" sldId="273"/>
            <ac:picMk id="56" creationId="{33FD8E7D-F47B-FA99-F9F3-D0BFA5C22EB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6324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 gap identified: a system performing both steganography and strong authenticated encryption entirely client-side, with verifiable zero server-side key exposure. Add the specific papers from your course-required literature survey here if needed for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A6386-6C35-FAB9-7491-D4134CF80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59CF1A-4A5D-7A6D-B915-DE3E49C6A0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B293AB-9F78-7A16-603D-D6A0DDC3DD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139101-F857-3AD5-BF09-ED66EDE243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282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9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noise_dark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8138160" y="-1362722"/>
            <a:ext cx="5943600" cy="5943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1554480"/>
            <a:ext cx="685800" cy="685800"/>
          </a:xfrm>
          <a:prstGeom prst="ellipse">
            <a:avLst/>
          </a:prstGeom>
          <a:solidFill>
            <a:srgbClr val="FE9114"/>
          </a:solidFill>
          <a:ln/>
        </p:spPr>
      </p:sp>
      <p:pic>
        <p:nvPicPr>
          <p:cNvPr id="4" name="Image 1" descr="assets/shield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114" y="1643634"/>
            <a:ext cx="507492" cy="50749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777240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BB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ZERO-KNOWLEDGE ENCRYPTED FILE STEGANOGRAPHY VAULT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731520" y="26974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StegaVault</a:t>
            </a:r>
            <a:endParaRPr lang="en-US" sz="6200" dirty="0"/>
          </a:p>
        </p:txBody>
      </p:sp>
      <p:sp>
        <p:nvSpPr>
          <p:cNvPr id="7" name="Text 3"/>
          <p:cNvSpPr txBox="1"/>
          <p:nvPr/>
        </p:nvSpPr>
        <p:spPr>
          <a:xfrm>
            <a:off x="777240" y="3749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Hiding what's encrypted. Encrypting what's hidden.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731520" y="4617720"/>
            <a:ext cx="7863840" cy="1417320"/>
          </a:xfrm>
          <a:prstGeom prst="roundRect">
            <a:avLst>
              <a:gd name="adj" fmla="val 5161"/>
            </a:avLst>
          </a:prstGeom>
          <a:solidFill>
            <a:srgbClr val="141A24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60120" y="4773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BB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960120" y="5029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Naveen K  •  Likhith Kumar R P  •  Mahamad Usen  •  Akash B V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960120" y="5394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 Prof. Sheela Rani C M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960120" y="5669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Sapthagiri College of Engineering, Bengaluru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65196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STEGAVAULT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FE9114"/>
          </a:solidFill>
          <a:ln/>
        </p:spPr>
      </p:sp>
      <p:pic>
        <p:nvPicPr>
          <p:cNvPr id="3" name="Image 0" descr="assets/book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020" y="522580"/>
            <a:ext cx="372161" cy="37216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B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65836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StegaVault?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63040"/>
            <a:ext cx="65836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security today usually means choosing between encryption (unreadable) or steganography (undetectable) — rarely both together.</a:t>
            </a:r>
            <a:endParaRPr lang="en-US" sz="15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StegaVault combines authenticated AES-256-GCM encryption with 1-bit LSB steganography, so a protected file is both unreadable and invisible.</a:t>
            </a:r>
            <a:endParaRPr lang="en-US" sz="15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cryptographic and steganographic pipeline runs client-side, in the browser — no plaintext, passphrase, or key is ever transmitted to a server.</a:t>
            </a:r>
            <a:endParaRPr lang="en-US" sz="15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50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as a full-stack web application: React/TypeScript frontend, NestJS/PostgreSQL backend architecture, with OAuth-based multi-provider login.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452360" y="1508760"/>
            <a:ext cx="4251960" cy="4434840"/>
          </a:xfrm>
          <a:prstGeom prst="roundRect">
            <a:avLst>
              <a:gd name="adj" fmla="val 1720"/>
            </a:avLst>
          </a:prstGeom>
          <a:solidFill>
            <a:srgbClr val="182635"/>
          </a:solidFill>
          <a:ln/>
        </p:spPr>
      </p:sp>
      <p:sp>
        <p:nvSpPr>
          <p:cNvPr id="8" name="Shape 5"/>
          <p:cNvSpPr/>
          <p:nvPr/>
        </p:nvSpPr>
        <p:spPr>
          <a:xfrm>
            <a:off x="9006840" y="1874520"/>
            <a:ext cx="640080" cy="640080"/>
          </a:xfrm>
          <a:prstGeom prst="ellipse">
            <a:avLst/>
          </a:prstGeom>
          <a:solidFill>
            <a:srgbClr val="FE9114"/>
          </a:solidFill>
          <a:ln/>
        </p:spPr>
      </p:sp>
      <p:pic>
        <p:nvPicPr>
          <p:cNvPr id="9" name="Image 1" descr="assets/lock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0050" y="1957730"/>
            <a:ext cx="473659" cy="473659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680960" y="26060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7680960" y="288036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 in your browser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9372600" y="3337560"/>
            <a:ext cx="365760" cy="365760"/>
          </a:xfrm>
          <a:prstGeom prst="ellipse">
            <a:avLst/>
          </a:prstGeom>
          <a:solidFill>
            <a:srgbClr val="FBB03B"/>
          </a:solidFill>
          <a:ln/>
        </p:spPr>
      </p:sp>
      <p:pic>
        <p:nvPicPr>
          <p:cNvPr id="13" name="Image 2" descr="assets/arrowright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0149" y="3385109"/>
            <a:ext cx="270662" cy="270662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9006840" y="3886200"/>
            <a:ext cx="640080" cy="640080"/>
          </a:xfrm>
          <a:prstGeom prst="ellipse">
            <a:avLst/>
          </a:prstGeom>
          <a:solidFill>
            <a:srgbClr val="5B9BC4"/>
          </a:solidFill>
          <a:ln/>
        </p:spPr>
      </p:sp>
      <p:pic>
        <p:nvPicPr>
          <p:cNvPr id="15" name="Image 3" descr="assets/image_d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0050" y="3969410"/>
            <a:ext cx="473659" cy="473659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680960" y="461772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</a:t>
            </a:r>
            <a:endParaRPr lang="en-US" sz="1200" dirty="0"/>
          </a:p>
        </p:txBody>
      </p:sp>
      <p:sp>
        <p:nvSpPr>
          <p:cNvPr id="17" name="Text 11"/>
          <p:cNvSpPr txBox="1"/>
          <p:nvPr/>
        </p:nvSpPr>
        <p:spPr>
          <a:xfrm>
            <a:off x="7680960" y="489204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1-bit LSB steganography in a cover image</a:t>
            </a:r>
            <a:endParaRPr lang="en-US" sz="1050" dirty="0"/>
          </a:p>
        </p:txBody>
      </p:sp>
      <p:sp>
        <p:nvSpPr>
          <p:cNvPr id="18" name="Text 12"/>
          <p:cNvSpPr txBox="1"/>
          <p:nvPr/>
        </p:nvSpPr>
        <p:spPr>
          <a:xfrm>
            <a:off x="457200" y="65196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STEGAVAULT</a:t>
            </a:r>
            <a:endParaRPr lang="en-US" sz="900" dirty="0"/>
          </a:p>
        </p:txBody>
      </p:sp>
      <p:sp>
        <p:nvSpPr>
          <p:cNvPr id="19" name="Text 13"/>
          <p:cNvSpPr txBox="1"/>
          <p:nvPr/>
        </p:nvSpPr>
        <p:spPr>
          <a:xfrm>
            <a:off x="3291840" y="65196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20" name="Text 14"/>
          <p:cNvSpPr txBox="1"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FE9114"/>
          </a:solidFill>
          <a:ln/>
        </p:spPr>
      </p:sp>
      <p:pic>
        <p:nvPicPr>
          <p:cNvPr id="3" name="Image 0" descr="assets/alert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020" y="522580"/>
            <a:ext cx="372161" cy="37216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B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65836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existing approaches fall short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3657600" cy="2468880"/>
          </a:xfrm>
          <a:prstGeom prst="roundRect">
            <a:avLst>
              <a:gd name="adj" fmla="val 2963"/>
            </a:avLst>
          </a:prstGeom>
          <a:solidFill>
            <a:srgbClr val="141A24"/>
          </a:solidFill>
          <a:ln/>
        </p:spPr>
      </p:sp>
      <p:sp>
        <p:nvSpPr>
          <p:cNvPr id="7" name="Shape 4"/>
          <p:cNvSpPr/>
          <p:nvPr/>
        </p:nvSpPr>
        <p:spPr>
          <a:xfrm>
            <a:off x="822960" y="1810512"/>
            <a:ext cx="548640" cy="54864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8" name="Image 1" descr="assets/eyeoff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283" y="1881835"/>
            <a:ext cx="405994" cy="40599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22960" y="2468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ciphertext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29260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encrypted file is still obviously encrypted — it can be flagged, seized, or specifically targeted.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434840" y="1554480"/>
            <a:ext cx="3657600" cy="2468880"/>
          </a:xfrm>
          <a:prstGeom prst="roundRect">
            <a:avLst>
              <a:gd name="adj" fmla="val 2963"/>
            </a:avLst>
          </a:prstGeom>
          <a:solidFill>
            <a:srgbClr val="141A24"/>
          </a:solidFill>
          <a:ln/>
        </p:spPr>
      </p:sp>
      <p:sp>
        <p:nvSpPr>
          <p:cNvPr id="12" name="Shape 8"/>
          <p:cNvSpPr/>
          <p:nvPr/>
        </p:nvSpPr>
        <p:spPr>
          <a:xfrm>
            <a:off x="4709160" y="1810512"/>
            <a:ext cx="548640" cy="54864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13" name="Image 2" descr="assets/image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0483" y="1881835"/>
            <a:ext cx="405994" cy="40599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709160" y="2468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Undefended hiding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4709160" y="29260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Steganography alone conceals data, but leaves it completely unprotected once discovered.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321040" y="1554480"/>
            <a:ext cx="3657600" cy="2468880"/>
          </a:xfrm>
          <a:prstGeom prst="roundRect">
            <a:avLst>
              <a:gd name="adj" fmla="val 2963"/>
            </a:avLst>
          </a:prstGeom>
          <a:solidFill>
            <a:srgbClr val="141A24"/>
          </a:solidFill>
          <a:ln/>
        </p:spPr>
      </p:sp>
      <p:sp>
        <p:nvSpPr>
          <p:cNvPr id="17" name="Shape 12"/>
          <p:cNvSpPr/>
          <p:nvPr/>
        </p:nvSpPr>
        <p:spPr>
          <a:xfrm>
            <a:off x="8595360" y="1810512"/>
            <a:ext cx="548640" cy="54864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18" name="Image 3" descr="assets/server_d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6683" y="1881835"/>
            <a:ext cx="405994" cy="40599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595360" y="2468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trust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8595360" y="29260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“secure vault” apps require the server to see your password or encryption key at some point.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548640" y="4251960"/>
            <a:ext cx="11109960" cy="1691640"/>
          </a:xfrm>
          <a:prstGeom prst="roundRect">
            <a:avLst>
              <a:gd name="adj" fmla="val 4324"/>
            </a:avLst>
          </a:prstGeom>
          <a:solidFill>
            <a:srgbClr val="182635"/>
          </a:solidFill>
          <a:ln/>
        </p:spPr>
      </p:sp>
      <p:sp>
        <p:nvSpPr>
          <p:cNvPr id="22" name="Shape 16"/>
          <p:cNvSpPr/>
          <p:nvPr/>
        </p:nvSpPr>
        <p:spPr>
          <a:xfrm>
            <a:off x="868680" y="4553712"/>
            <a:ext cx="594360" cy="594360"/>
          </a:xfrm>
          <a:prstGeom prst="ellipse">
            <a:avLst/>
          </a:prstGeom>
          <a:solidFill>
            <a:srgbClr val="FBB03B"/>
          </a:solidFill>
          <a:ln/>
        </p:spPr>
      </p:sp>
      <p:pic>
        <p:nvPicPr>
          <p:cNvPr id="23" name="Image 4" descr="assets/target_dar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5947" y="4630979"/>
            <a:ext cx="439826" cy="439826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645920" y="4572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B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200" dirty="0"/>
          </a:p>
        </p:txBody>
      </p:sp>
      <p:sp>
        <p:nvSpPr>
          <p:cNvPr id="25" name="Text 18"/>
          <p:cNvSpPr txBox="1"/>
          <p:nvPr/>
        </p:nvSpPr>
        <p:spPr>
          <a:xfrm>
            <a:off x="1645920" y="489204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is needed where a file is simultaneously encrypted AND hidden — with the passphrase and derived key never leaving the user's device.</a:t>
            </a:r>
            <a:endParaRPr lang="en-US" sz="1550" dirty="0"/>
          </a:p>
        </p:txBody>
      </p:sp>
      <p:sp>
        <p:nvSpPr>
          <p:cNvPr id="26" name="Text 19"/>
          <p:cNvSpPr txBox="1"/>
          <p:nvPr/>
        </p:nvSpPr>
        <p:spPr>
          <a:xfrm>
            <a:off x="457200" y="65196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STEGAVAULT</a:t>
            </a:r>
            <a:endParaRPr lang="en-US" sz="900" dirty="0"/>
          </a:p>
        </p:txBody>
      </p:sp>
      <p:sp>
        <p:nvSpPr>
          <p:cNvPr id="27" name="Text 20"/>
          <p:cNvSpPr txBox="1"/>
          <p:nvPr/>
        </p:nvSpPr>
        <p:spPr>
          <a:xfrm>
            <a:off x="3291840" y="65196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28" name="Text 21"/>
          <p:cNvSpPr txBox="1"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C53DC4FE-F56F-0E61-8371-E6960C2400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06862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FE9114"/>
          </a:solidFill>
          <a:ln/>
        </p:spPr>
      </p:sp>
      <p:pic>
        <p:nvPicPr>
          <p:cNvPr id="3" name="Image 0" descr="assets/layers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020" y="522580"/>
            <a:ext cx="372161" cy="37216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B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65836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SecureCloud — the predecessor system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5486400" cy="4343400"/>
          </a:xfrm>
          <a:prstGeom prst="roundRect">
            <a:avLst>
              <a:gd name="adj" fmla="val 1684"/>
            </a:avLst>
          </a:prstGeom>
          <a:solidFill>
            <a:srgbClr val="141A2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1737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BB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10312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+ MySQL encrypted cloud storage application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AES-256-CBC encryption performed server-side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LSB steganography used only to hide the encryption key — not the full file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Single-provider Google OAuth login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Graphical password authentication with role-based access control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63640" y="1554480"/>
            <a:ext cx="5394960" cy="4343400"/>
          </a:xfrm>
          <a:prstGeom prst="roundRect">
            <a:avLst>
              <a:gd name="adj" fmla="val 1684"/>
            </a:avLst>
          </a:prstGeom>
          <a:solidFill>
            <a:srgbClr val="3A141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537960" y="1737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537960" y="210312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has access to keys/plaintext at some point — not zero-knowledge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CBC mode provides no built-in integrity or authentication check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OAuth provider limits accessibility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Monolithic PHP architecture, harder to scale or maintain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5196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STEGAVAULT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3291840" y="65196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FE9114"/>
          </a:solidFill>
          <a:ln/>
        </p:spPr>
      </p:sp>
      <p:pic>
        <p:nvPicPr>
          <p:cNvPr id="3" name="Image 0" descr="assets/book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020" y="522580"/>
            <a:ext cx="372161" cy="37216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B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65836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Categories of prior approaches reviewed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141A24"/>
          </a:solidFill>
          <a:ln/>
        </p:spPr>
      </p:sp>
      <p:sp>
        <p:nvSpPr>
          <p:cNvPr id="7" name="Shape 4"/>
          <p:cNvSpPr/>
          <p:nvPr/>
        </p:nvSpPr>
        <p:spPr>
          <a:xfrm>
            <a:off x="777240" y="1755648"/>
            <a:ext cx="502920" cy="502920"/>
          </a:xfrm>
          <a:prstGeom prst="ellipse">
            <a:avLst/>
          </a:prstGeom>
          <a:solidFill>
            <a:srgbClr val="5B9BC4"/>
          </a:solidFill>
          <a:ln/>
        </p:spPr>
      </p:sp>
      <p:pic>
        <p:nvPicPr>
          <p:cNvPr id="8" name="Image 1" descr="assets/image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620" y="1821028"/>
            <a:ext cx="372161" cy="372161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17320" y="16916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Steganography-only systems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417320" y="2084832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Effectively hide data, but leave it fully unencrypted — vulnerable once detected via statistical steganalysis (chi-square, RS analysis).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172200" y="155448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141A24"/>
          </a:solidFill>
          <a:ln/>
        </p:spPr>
      </p:sp>
      <p:sp>
        <p:nvSpPr>
          <p:cNvPr id="12" name="Shape 8"/>
          <p:cNvSpPr/>
          <p:nvPr/>
        </p:nvSpPr>
        <p:spPr>
          <a:xfrm>
            <a:off x="6400800" y="1755648"/>
            <a:ext cx="502920" cy="502920"/>
          </a:xfrm>
          <a:prstGeom prst="ellipse">
            <a:avLst/>
          </a:prstGeom>
          <a:solidFill>
            <a:srgbClr val="5B9BC4"/>
          </a:solidFill>
          <a:ln/>
        </p:spPr>
      </p:sp>
      <p:pic>
        <p:nvPicPr>
          <p:cNvPr id="13" name="Image 2" descr="assets/lock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6180" y="1821028"/>
            <a:ext cx="372161" cy="372161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040880" y="16916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Encryption-only cloud vaults</a:t>
            </a:r>
            <a:endParaRPr lang="en-US" sz="1350" dirty="0"/>
          </a:p>
        </p:txBody>
      </p:sp>
      <p:sp>
        <p:nvSpPr>
          <p:cNvPr id="15" name="Text 10"/>
          <p:cNvSpPr txBox="1"/>
          <p:nvPr/>
        </p:nvSpPr>
        <p:spPr>
          <a:xfrm>
            <a:off x="7040880" y="2084832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strong confidentiality, but visibly “suspicious” ciphertext can itself invite targeted attacks.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48640" y="333756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141A24"/>
          </a:solidFill>
          <a:ln/>
        </p:spPr>
      </p:sp>
      <p:sp>
        <p:nvSpPr>
          <p:cNvPr id="17" name="Shape 12"/>
          <p:cNvSpPr/>
          <p:nvPr/>
        </p:nvSpPr>
        <p:spPr>
          <a:xfrm>
            <a:off x="777240" y="3538728"/>
            <a:ext cx="502920" cy="502920"/>
          </a:xfrm>
          <a:prstGeom prst="ellipse">
            <a:avLst/>
          </a:prstGeom>
          <a:solidFill>
            <a:srgbClr val="5B9BC4"/>
          </a:solidFill>
          <a:ln/>
        </p:spPr>
      </p:sp>
      <p:pic>
        <p:nvPicPr>
          <p:cNvPr id="18" name="Image 3" descr="assets/server_d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620" y="3604108"/>
            <a:ext cx="372161" cy="372161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17320" y="34747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Server-assisted crypto + stego systems</a:t>
            </a:r>
            <a:endParaRPr lang="en-US" sz="1350" dirty="0"/>
          </a:p>
        </p:txBody>
      </p:sp>
      <p:sp>
        <p:nvSpPr>
          <p:cNvPr id="20" name="Text 14"/>
          <p:cNvSpPr txBox="1"/>
          <p:nvPr/>
        </p:nvSpPr>
        <p:spPr>
          <a:xfrm>
            <a:off x="1417320" y="3867912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both techniques, but typically perform key derivation or encryption server-side, requiring user trust.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172200" y="333756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141A24"/>
          </a:solidFill>
          <a:ln/>
        </p:spPr>
      </p:sp>
      <p:sp>
        <p:nvSpPr>
          <p:cNvPr id="22" name="Shape 16"/>
          <p:cNvSpPr/>
          <p:nvPr/>
        </p:nvSpPr>
        <p:spPr>
          <a:xfrm>
            <a:off x="6400800" y="3538728"/>
            <a:ext cx="502920" cy="502920"/>
          </a:xfrm>
          <a:prstGeom prst="ellipse">
            <a:avLst/>
          </a:prstGeom>
          <a:solidFill>
            <a:srgbClr val="5B9BC4"/>
          </a:solidFill>
          <a:ln/>
        </p:spPr>
      </p:sp>
      <p:pic>
        <p:nvPicPr>
          <p:cNvPr id="23" name="Image 4" descr="assets/users_dar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6180" y="3604108"/>
            <a:ext cx="372161" cy="372161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040880" y="34747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OAuth-federated storage systems</a:t>
            </a:r>
            <a:endParaRPr lang="en-US" sz="1350" dirty="0"/>
          </a:p>
        </p:txBody>
      </p:sp>
      <p:sp>
        <p:nvSpPr>
          <p:cNvPr id="25" name="Text 18"/>
          <p:cNvSpPr txBox="1"/>
          <p:nvPr/>
        </p:nvSpPr>
        <p:spPr>
          <a:xfrm>
            <a:off x="7040880" y="3867912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 identity and access management, but rarely address zero-knowledge data confidentiality.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548640" y="5349240"/>
            <a:ext cx="11109960" cy="914400"/>
          </a:xfrm>
          <a:prstGeom prst="roundRect">
            <a:avLst>
              <a:gd name="adj" fmla="val 8000"/>
            </a:avLst>
          </a:prstGeom>
          <a:solidFill>
            <a:srgbClr val="182635"/>
          </a:solidFill>
          <a:ln/>
        </p:spPr>
      </p:sp>
      <p:sp>
        <p:nvSpPr>
          <p:cNvPr id="27" name="Shape 20"/>
          <p:cNvSpPr/>
          <p:nvPr/>
        </p:nvSpPr>
        <p:spPr>
          <a:xfrm>
            <a:off x="822960" y="5577840"/>
            <a:ext cx="502920" cy="502920"/>
          </a:xfrm>
          <a:prstGeom prst="ellipse">
            <a:avLst/>
          </a:prstGeom>
          <a:solidFill>
            <a:srgbClr val="FBB03B"/>
          </a:solidFill>
          <a:ln/>
        </p:spPr>
      </p:sp>
      <p:pic>
        <p:nvPicPr>
          <p:cNvPr id="28" name="Image 5" descr="assets/target_dar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8340" y="5643220"/>
            <a:ext cx="372161" cy="372161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508760" y="55595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BB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1100" dirty="0"/>
          </a:p>
        </p:txBody>
      </p:sp>
      <p:sp>
        <p:nvSpPr>
          <p:cNvPr id="30" name="Text 22"/>
          <p:cNvSpPr txBox="1"/>
          <p:nvPr/>
        </p:nvSpPr>
        <p:spPr>
          <a:xfrm>
            <a:off x="1508760" y="5815584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performing both steganography and strong authenticated encryption entirely client-side, with verifiable zero server-side key exposure.</a:t>
            </a:r>
            <a:endParaRPr lang="en-US" sz="1250" dirty="0"/>
          </a:p>
        </p:txBody>
      </p:sp>
      <p:sp>
        <p:nvSpPr>
          <p:cNvPr id="31" name="Text 23"/>
          <p:cNvSpPr txBox="1"/>
          <p:nvPr/>
        </p:nvSpPr>
        <p:spPr>
          <a:xfrm>
            <a:off x="457200" y="65196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STEGAVAULT</a:t>
            </a:r>
            <a:endParaRPr lang="en-US" sz="900" dirty="0"/>
          </a:p>
        </p:txBody>
      </p:sp>
      <p:sp>
        <p:nvSpPr>
          <p:cNvPr id="32" name="Text 24"/>
          <p:cNvSpPr txBox="1"/>
          <p:nvPr/>
        </p:nvSpPr>
        <p:spPr>
          <a:xfrm>
            <a:off x="3291840" y="65196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900" dirty="0"/>
          </a:p>
        </p:txBody>
      </p:sp>
      <p:sp>
        <p:nvSpPr>
          <p:cNvPr id="33" name="Text 25"/>
          <p:cNvSpPr txBox="1"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FE9114"/>
          </a:solidFill>
          <a:ln/>
        </p:spPr>
      </p:sp>
      <p:pic>
        <p:nvPicPr>
          <p:cNvPr id="3" name="Image 0" descr="assets/check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020" y="522580"/>
            <a:ext cx="372161" cy="37216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B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65836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StegaVault's approach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6675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100% client-side pipeline: PBKDF2 key derivation → AES-256-GCM encryption → 1-bit LSB embedding, all inside the browser.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zero-knowledge: the passphrase, derived key, and plaintext file are never transmitted anywhere.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Multi-provider OAuth authentication: Google, Discord, and LinkedIn.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full-stack architecture: React 19 + TypeScript frontend, NestJS + Prisma + PostgreSQL backend.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schema and infrastructure (S3 storage, JWT auth, rate limiting) already designed for the next milestone — persistent, multi-device encrypted storage.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7498080" y="1554480"/>
            <a:ext cx="4206240" cy="4389120"/>
          </a:xfrm>
          <a:prstGeom prst="roundRect">
            <a:avLst>
              <a:gd name="adj" fmla="val 1739"/>
            </a:avLst>
          </a:prstGeom>
          <a:solidFill>
            <a:srgbClr val="182635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BB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DIFFERENT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772400" y="2194560"/>
            <a:ext cx="502920" cy="502920"/>
          </a:xfrm>
          <a:prstGeom prst="ellipse">
            <a:avLst/>
          </a:prstGeom>
          <a:solidFill>
            <a:srgbClr val="FE9114"/>
          </a:solidFill>
          <a:ln/>
        </p:spPr>
      </p:sp>
      <p:pic>
        <p:nvPicPr>
          <p:cNvPr id="10" name="Image 1" descr="assets/lock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7780" y="2259940"/>
            <a:ext cx="372161" cy="37216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412480" y="21762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cryptography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8412480" y="248716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Crypto API, not a simulation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7772400" y="3429000"/>
            <a:ext cx="502920" cy="502920"/>
          </a:xfrm>
          <a:prstGeom prst="ellipse">
            <a:avLst/>
          </a:prstGeom>
          <a:solidFill>
            <a:srgbClr val="FE9114"/>
          </a:solidFill>
          <a:ln/>
        </p:spPr>
      </p:sp>
      <p:pic>
        <p:nvPicPr>
          <p:cNvPr id="14" name="Image 2" descr="assets/image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7780" y="3494380"/>
            <a:ext cx="372161" cy="372161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412480" y="34107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steganography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8412480" y="372160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pixel-level LSB embedding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7772400" y="4663440"/>
            <a:ext cx="502920" cy="502920"/>
          </a:xfrm>
          <a:prstGeom prst="ellipse">
            <a:avLst/>
          </a:prstGeom>
          <a:solidFill>
            <a:srgbClr val="FE9114"/>
          </a:solidFill>
          <a:ln/>
        </p:spPr>
      </p:sp>
      <p:pic>
        <p:nvPicPr>
          <p:cNvPr id="18" name="Image 3" descr="assets/shield_d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37780" y="4728820"/>
            <a:ext cx="372161" cy="372161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412480" y="464515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server trust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8412480" y="49560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sensitive ever leaves the browser</a:t>
            </a:r>
            <a:endParaRPr lang="en-US" sz="1050" dirty="0"/>
          </a:p>
        </p:txBody>
      </p:sp>
      <p:sp>
        <p:nvSpPr>
          <p:cNvPr id="21" name="Text 15"/>
          <p:cNvSpPr txBox="1"/>
          <p:nvPr/>
        </p:nvSpPr>
        <p:spPr>
          <a:xfrm>
            <a:off x="457200" y="65196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STEGAVAULT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3291840" y="65196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FE9114"/>
          </a:solidFill>
          <a:ln/>
        </p:spPr>
      </p:sp>
      <p:pic>
        <p:nvPicPr>
          <p:cNvPr id="3" name="Image 0" descr="assets/layers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020" y="522580"/>
            <a:ext cx="372161" cy="37216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56052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rgbClr val="FBB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r>
              <a:rPr lang="en-US" sz="3000" b="1" kern="0" spc="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(PART-A)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21" name="Text 15"/>
          <p:cNvSpPr txBox="1"/>
          <p:nvPr/>
        </p:nvSpPr>
        <p:spPr>
          <a:xfrm>
            <a:off x="8915400" y="223113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22" name="Text 16"/>
          <p:cNvSpPr txBox="1"/>
          <p:nvPr/>
        </p:nvSpPr>
        <p:spPr>
          <a:xfrm>
            <a:off x="8915400" y="254203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1" name="Text 31"/>
          <p:cNvSpPr txBox="1"/>
          <p:nvPr/>
        </p:nvSpPr>
        <p:spPr>
          <a:xfrm>
            <a:off x="10058400" y="453542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42" name="Text 32"/>
          <p:cNvSpPr txBox="1"/>
          <p:nvPr/>
        </p:nvSpPr>
        <p:spPr>
          <a:xfrm>
            <a:off x="9464040" y="50749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4" name="Text 34"/>
          <p:cNvSpPr txBox="1"/>
          <p:nvPr/>
        </p:nvSpPr>
        <p:spPr>
          <a:xfrm>
            <a:off x="8183880" y="3520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5" name="Text 35"/>
          <p:cNvSpPr txBox="1"/>
          <p:nvPr/>
        </p:nvSpPr>
        <p:spPr>
          <a:xfrm>
            <a:off x="457200" y="65196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STEGAVAULT</a:t>
            </a:r>
            <a:endParaRPr lang="en-US" sz="900" dirty="0"/>
          </a:p>
        </p:txBody>
      </p:sp>
      <p:sp>
        <p:nvSpPr>
          <p:cNvPr id="46" name="Text 36"/>
          <p:cNvSpPr txBox="1"/>
          <p:nvPr/>
        </p:nvSpPr>
        <p:spPr>
          <a:xfrm>
            <a:off x="3291840" y="65196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47" name="Text 37"/>
          <p:cNvSpPr txBox="1"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pic>
        <p:nvPicPr>
          <p:cNvPr id="54" name="Image 0" descr="assets/layers_dark.png">
            <a:extLst>
              <a:ext uri="{FF2B5EF4-FFF2-40B4-BE49-F238E27FC236}">
                <a16:creationId xmlns:a16="http://schemas.microsoft.com/office/drawing/2014/main" id="{CE15783A-B50D-58C4-33EA-A9F21989DB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749246"/>
            <a:ext cx="372161" cy="372161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9F3C7D34-45FD-1E63-7735-56DE6CFE0C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926" y="1006285"/>
            <a:ext cx="11680166" cy="551338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CC626F-1999-5EAC-A444-2EA614296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B698BAE-5EB1-59FC-6E40-ED2CDBEA1C08}"/>
              </a:ext>
            </a:extLst>
          </p:cNvPr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FE9114"/>
          </a:solidFill>
          <a:ln/>
        </p:spPr>
      </p:sp>
      <p:pic>
        <p:nvPicPr>
          <p:cNvPr id="3" name="Image 0" descr="assets/layers_dark.png">
            <a:extLst>
              <a:ext uri="{FF2B5EF4-FFF2-40B4-BE49-F238E27FC236}">
                <a16:creationId xmlns:a16="http://schemas.microsoft.com/office/drawing/2014/main" id="{76BF6077-947C-EC7F-E303-03A32ED5EC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020" y="522580"/>
            <a:ext cx="372161" cy="372161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556B53C6-56E6-2843-33DA-8C907731FE8E}"/>
              </a:ext>
            </a:extLst>
          </p:cNvPr>
          <p:cNvSpPr txBox="1"/>
          <p:nvPr/>
        </p:nvSpPr>
        <p:spPr>
          <a:xfrm>
            <a:off x="1234440" y="56052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rgbClr val="FBB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r>
              <a:rPr lang="en-US" sz="3000" b="1" kern="0" spc="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(PART-B)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A56444AE-DE34-0279-1E92-EEC529961CBD}"/>
              </a:ext>
            </a:extLst>
          </p:cNvPr>
          <p:cNvSpPr txBox="1"/>
          <p:nvPr/>
        </p:nvSpPr>
        <p:spPr>
          <a:xfrm>
            <a:off x="8915400" y="223113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1B303FB1-2094-BCAB-4DE3-EFF02F380869}"/>
              </a:ext>
            </a:extLst>
          </p:cNvPr>
          <p:cNvSpPr txBox="1"/>
          <p:nvPr/>
        </p:nvSpPr>
        <p:spPr>
          <a:xfrm>
            <a:off x="8915400" y="254203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1" name="Text 31">
            <a:extLst>
              <a:ext uri="{FF2B5EF4-FFF2-40B4-BE49-F238E27FC236}">
                <a16:creationId xmlns:a16="http://schemas.microsoft.com/office/drawing/2014/main" id="{E4CE574F-AE56-922A-8725-53DA1C3A24A2}"/>
              </a:ext>
            </a:extLst>
          </p:cNvPr>
          <p:cNvSpPr txBox="1"/>
          <p:nvPr/>
        </p:nvSpPr>
        <p:spPr>
          <a:xfrm>
            <a:off x="10058400" y="453542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42" name="Text 32">
            <a:extLst>
              <a:ext uri="{FF2B5EF4-FFF2-40B4-BE49-F238E27FC236}">
                <a16:creationId xmlns:a16="http://schemas.microsoft.com/office/drawing/2014/main" id="{10B304CB-11AC-DF7D-39E1-3BBD7269AA54}"/>
              </a:ext>
            </a:extLst>
          </p:cNvPr>
          <p:cNvSpPr txBox="1"/>
          <p:nvPr/>
        </p:nvSpPr>
        <p:spPr>
          <a:xfrm>
            <a:off x="9464040" y="50749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4" name="Text 34">
            <a:extLst>
              <a:ext uri="{FF2B5EF4-FFF2-40B4-BE49-F238E27FC236}">
                <a16:creationId xmlns:a16="http://schemas.microsoft.com/office/drawing/2014/main" id="{46701D98-2751-4B16-D603-B2E15108A7B8}"/>
              </a:ext>
            </a:extLst>
          </p:cNvPr>
          <p:cNvSpPr txBox="1"/>
          <p:nvPr/>
        </p:nvSpPr>
        <p:spPr>
          <a:xfrm>
            <a:off x="8183880" y="3520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5" name="Text 35">
            <a:extLst>
              <a:ext uri="{FF2B5EF4-FFF2-40B4-BE49-F238E27FC236}">
                <a16:creationId xmlns:a16="http://schemas.microsoft.com/office/drawing/2014/main" id="{BB6DEF04-D7E3-7952-C241-FD513A3FC91B}"/>
              </a:ext>
            </a:extLst>
          </p:cNvPr>
          <p:cNvSpPr txBox="1"/>
          <p:nvPr/>
        </p:nvSpPr>
        <p:spPr>
          <a:xfrm>
            <a:off x="457200" y="65196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STEGAVAULT</a:t>
            </a:r>
            <a:endParaRPr lang="en-US" sz="900" dirty="0"/>
          </a:p>
        </p:txBody>
      </p:sp>
      <p:sp>
        <p:nvSpPr>
          <p:cNvPr id="46" name="Text 36">
            <a:extLst>
              <a:ext uri="{FF2B5EF4-FFF2-40B4-BE49-F238E27FC236}">
                <a16:creationId xmlns:a16="http://schemas.microsoft.com/office/drawing/2014/main" id="{95B89B8B-1FC6-9A2A-EDBF-07E8EDE5222D}"/>
              </a:ext>
            </a:extLst>
          </p:cNvPr>
          <p:cNvSpPr txBox="1"/>
          <p:nvPr/>
        </p:nvSpPr>
        <p:spPr>
          <a:xfrm>
            <a:off x="3291840" y="65196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47" name="Text 37">
            <a:extLst>
              <a:ext uri="{FF2B5EF4-FFF2-40B4-BE49-F238E27FC236}">
                <a16:creationId xmlns:a16="http://schemas.microsoft.com/office/drawing/2014/main" id="{B38710CD-796C-6687-AB9A-3EC7FEB88060}"/>
              </a:ext>
            </a:extLst>
          </p:cNvPr>
          <p:cNvSpPr txBox="1"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pic>
        <p:nvPicPr>
          <p:cNvPr id="54" name="Image 0" descr="assets/layers_dark.png">
            <a:extLst>
              <a:ext uri="{FF2B5EF4-FFF2-40B4-BE49-F238E27FC236}">
                <a16:creationId xmlns:a16="http://schemas.microsoft.com/office/drawing/2014/main" id="{C31A59C9-87AE-0615-A560-7AA70E8D51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749246"/>
            <a:ext cx="372161" cy="3721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25047E7-4128-1FE7-FE45-4555D6AAE0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60120"/>
            <a:ext cx="11277600" cy="5559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0169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FE9114"/>
          </a:solidFill>
          <a:ln/>
        </p:spPr>
      </p:sp>
      <p:pic>
        <p:nvPicPr>
          <p:cNvPr id="3" name="Image 0" descr="assets/gitmerge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020" y="522580"/>
            <a:ext cx="372161" cy="37216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B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/ WORKFLOW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65836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Step-by-step: encrypt, hide, and recover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68680" y="1709928"/>
            <a:ext cx="0" cy="3977640"/>
          </a:xfrm>
          <a:prstGeom prst="line">
            <a:avLst/>
          </a:prstGeom>
          <a:noFill/>
          <a:ln w="38100">
            <a:solidFill>
              <a:srgbClr val="1A4F6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rgbClr val="FE9114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008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325880" y="14813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files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160520" y="1463040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selects a secret file and a cover image.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2304288"/>
            <a:ext cx="457200" cy="457200"/>
          </a:xfrm>
          <a:prstGeom prst="ellipse">
            <a:avLst/>
          </a:prstGeom>
          <a:solidFill>
            <a:srgbClr val="FE9114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40080" y="2304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325880" y="227685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passphrase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4160520" y="2258568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provides a passphrase known only to them.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0080" y="3099816"/>
            <a:ext cx="457200" cy="457200"/>
          </a:xfrm>
          <a:prstGeom prst="ellipse">
            <a:avLst/>
          </a:prstGeom>
          <a:solidFill>
            <a:srgbClr val="FE9114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40080" y="3099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325880" y="30723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key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4160520" y="3054096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PBKDF2-HMAC-SHA256 derives a 256-bit key (250,000 iterations, random salt).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40080" y="3895344"/>
            <a:ext cx="457200" cy="457200"/>
          </a:xfrm>
          <a:prstGeom prst="ellipse">
            <a:avLst/>
          </a:prstGeom>
          <a:solidFill>
            <a:srgbClr val="FE9114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40080" y="3895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325880" y="38679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4160520" y="3849624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 encrypts the file client-side with a random IV and authentication tag.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40080" y="4690872"/>
            <a:ext cx="457200" cy="457200"/>
          </a:xfrm>
          <a:prstGeom prst="ellipse">
            <a:avLst/>
          </a:prstGeom>
          <a:solidFill>
            <a:srgbClr val="FE9114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40080" y="4690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325880" y="4663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4160520" y="4645152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1-bit LSB writes the ciphertext into the cover image's R, G, B pixel channels.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40080" y="5486400"/>
            <a:ext cx="457200" cy="457200"/>
          </a:xfrm>
          <a:prstGeom prst="ellipse">
            <a:avLst/>
          </a:prstGeom>
          <a:solidFill>
            <a:srgbClr val="FBB03B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40080" y="5486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1325880" y="54589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4160520" y="5440680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Reversing the steps — extract, then decrypt with the correct passphrase — restores the original file exactly, or fails clearly if the passphrase is wrong.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457200" y="65196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STEGAVAULT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3291840" y="65196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/ Workflow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FE9114"/>
          </a:solidFill>
          <a:ln/>
        </p:spPr>
      </p:sp>
      <p:pic>
        <p:nvPicPr>
          <p:cNvPr id="3" name="Image 0" descr="assets/layout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020" y="522580"/>
            <a:ext cx="372161" cy="37216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B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65836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formats behind the pipeline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00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BB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PAYLOAD FORMAT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196596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FE9114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204825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3591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bytes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542032" y="196596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FBB03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542032" y="204825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2542032" y="235915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bytes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169664" y="1965960"/>
            <a:ext cx="5806440" cy="868680"/>
          </a:xfrm>
          <a:prstGeom prst="roundRect">
            <a:avLst>
              <a:gd name="adj" fmla="val 8421"/>
            </a:avLst>
          </a:prstGeom>
          <a:solidFill>
            <a:srgbClr val="5B9BC4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169664" y="2048256"/>
            <a:ext cx="5806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 + Auth Tag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4169664" y="2359152"/>
            <a:ext cx="5806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0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length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3108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BB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STEGANOGRAPHIC FRAME (EMBEDDED IN COVER IMAGE)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347472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FF6B6B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48640" y="355701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Header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38679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bytes (uint32, big-endian)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364992" y="3474720"/>
            <a:ext cx="6537960" cy="868680"/>
          </a:xfrm>
          <a:prstGeom prst="roundRect">
            <a:avLst>
              <a:gd name="adj" fmla="val 8421"/>
            </a:avLst>
          </a:prstGeom>
          <a:solidFill>
            <a:srgbClr val="5B9BC4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3364992" y="3557016"/>
            <a:ext cx="6537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(packed ciphertext above)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3364992" y="3867912"/>
            <a:ext cx="6537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bytes, 1 bit per R/G/B channel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48640" y="4617720"/>
            <a:ext cx="11109960" cy="1371600"/>
          </a:xfrm>
          <a:prstGeom prst="roundRect">
            <a:avLst>
              <a:gd name="adj" fmla="val 5333"/>
            </a:avLst>
          </a:prstGeom>
          <a:solidFill>
            <a:srgbClr val="141A24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822960" y="4754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FBB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DATA MODEL — PRISMA `File` ENTITY (NEXT MILESTONE)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822960" y="50749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CB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•  ownerId  •  s3KeyEncrypted  •  s3KeyStego  •  iv  •  authTag  •  ciphertextSha256  •  createdAt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457200" y="65196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STEGAVAULT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3291840" y="65196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FE9114"/>
          </a:solidFill>
          <a:ln/>
        </p:spPr>
      </p:sp>
      <p:pic>
        <p:nvPicPr>
          <p:cNvPr id="3" name="Image 0" descr="assets/cpu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020" y="522580"/>
            <a:ext cx="372161" cy="37216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B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/ TECHNIQUE USED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65836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two engines behind StegaVault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5440680" cy="4297680"/>
          </a:xfrm>
          <a:prstGeom prst="roundRect">
            <a:avLst>
              <a:gd name="adj" fmla="val 1702"/>
            </a:avLst>
          </a:prstGeom>
          <a:solidFill>
            <a:srgbClr val="182635"/>
          </a:solidFill>
          <a:ln/>
        </p:spPr>
      </p:sp>
      <p:sp>
        <p:nvSpPr>
          <p:cNvPr id="7" name="Shape 4"/>
          <p:cNvSpPr/>
          <p:nvPr/>
        </p:nvSpPr>
        <p:spPr>
          <a:xfrm>
            <a:off x="822960" y="1828800"/>
            <a:ext cx="548640" cy="548640"/>
          </a:xfrm>
          <a:prstGeom prst="ellipse">
            <a:avLst/>
          </a:prstGeom>
          <a:solidFill>
            <a:srgbClr val="FE9114"/>
          </a:solidFill>
          <a:ln/>
        </p:spPr>
      </p:sp>
      <p:pic>
        <p:nvPicPr>
          <p:cNvPr id="8" name="Image 1" descr="assets/key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283" y="1900123"/>
            <a:ext cx="405994" cy="40599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08760" y="18745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 + PBKDF2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251460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25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PBKDF2-HMAC-SHA256 with 250,000 iterations and a random 16-byte salt derives a 256-bit key from the passphrase.</a:t>
            </a:r>
            <a:endParaRPr lang="en-US" sz="12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25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 is authenticated encryption — any tampering or wrong passphrase is cryptographically detected via the auth tag.</a:t>
            </a:r>
            <a:endParaRPr lang="en-US" sz="12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25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fresh random 12-byte IV is generated for every single encryption operation.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217920" y="1600200"/>
            <a:ext cx="5440680" cy="4297680"/>
          </a:xfrm>
          <a:prstGeom prst="roundRect">
            <a:avLst>
              <a:gd name="adj" fmla="val 1702"/>
            </a:avLst>
          </a:prstGeom>
          <a:solidFill>
            <a:srgbClr val="182635"/>
          </a:solidFill>
          <a:ln/>
        </p:spPr>
      </p:sp>
      <p:sp>
        <p:nvSpPr>
          <p:cNvPr id="12" name="Shape 8"/>
          <p:cNvSpPr/>
          <p:nvPr/>
        </p:nvSpPr>
        <p:spPr>
          <a:xfrm>
            <a:off x="6492240" y="1828800"/>
            <a:ext cx="548640" cy="548640"/>
          </a:xfrm>
          <a:prstGeom prst="ellipse">
            <a:avLst/>
          </a:prstGeom>
          <a:solidFill>
            <a:srgbClr val="5B9BC4"/>
          </a:solidFill>
          <a:ln/>
        </p:spPr>
      </p:sp>
      <p:pic>
        <p:nvPicPr>
          <p:cNvPr id="13" name="Image 2" descr="assets/image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3563" y="1900123"/>
            <a:ext cx="405994" cy="40599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178040" y="18745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1-BIT LSB STEGANOGRAPHY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6492240" y="251460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25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the least-significant bit of the R, G, and B channels of each pixel with one payload bit; the alpha channel is left untouched to avoid transparency artifacts.</a:t>
            </a:r>
            <a:endParaRPr lang="en-US" sz="12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25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Capacity: 3 usable bits per pixel → capacity (bytes) = floor(width × height × 3 / 8).</a:t>
            </a:r>
            <a:endParaRPr lang="en-US" sz="12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25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Acknowledged trade-off: detectable via statistical steganalysis (chi-square, RS analysis) — addressed under Future Scope.</a:t>
            </a:r>
            <a:endParaRPr lang="en-US" sz="1250" dirty="0"/>
          </a:p>
        </p:txBody>
      </p:sp>
      <p:sp>
        <p:nvSpPr>
          <p:cNvPr id="16" name="Text 11"/>
          <p:cNvSpPr txBox="1"/>
          <p:nvPr/>
        </p:nvSpPr>
        <p:spPr>
          <a:xfrm>
            <a:off x="457200" y="65196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STEGAVAULT</a:t>
            </a:r>
            <a:endParaRPr lang="en-US" sz="900" dirty="0"/>
          </a:p>
        </p:txBody>
      </p:sp>
      <p:sp>
        <p:nvSpPr>
          <p:cNvPr id="17" name="Text 12"/>
          <p:cNvSpPr txBox="1"/>
          <p:nvPr/>
        </p:nvSpPr>
        <p:spPr>
          <a:xfrm>
            <a:off x="3291840" y="65196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/ Technique Used</a:t>
            </a:r>
            <a:endParaRPr lang="en-US" sz="900" dirty="0"/>
          </a:p>
        </p:txBody>
      </p:sp>
      <p:sp>
        <p:nvSpPr>
          <p:cNvPr id="18" name="Text 13"/>
          <p:cNvSpPr txBox="1"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FE9114"/>
          </a:solidFill>
          <a:ln/>
        </p:spPr>
      </p:sp>
      <p:pic>
        <p:nvPicPr>
          <p:cNvPr id="3" name="Image 0" descr="assets/code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020" y="522580"/>
            <a:ext cx="372161" cy="37216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B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65836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2697480" cy="2880360"/>
          </a:xfrm>
          <a:prstGeom prst="roundRect">
            <a:avLst>
              <a:gd name="adj" fmla="val 2712"/>
            </a:avLst>
          </a:prstGeom>
          <a:solidFill>
            <a:srgbClr val="141A24"/>
          </a:solidFill>
          <a:ln/>
        </p:spPr>
      </p:sp>
      <p:sp>
        <p:nvSpPr>
          <p:cNvPr id="7" name="Shape 4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FE9114"/>
          </a:solidFill>
          <a:ln/>
        </p:spPr>
      </p:sp>
      <p:pic>
        <p:nvPicPr>
          <p:cNvPr id="8" name="Image 1" descr="assets/monitor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620" y="1894180"/>
            <a:ext cx="372161" cy="372161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77240" y="24505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5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88036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 + TypeScript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Crypto API, Canvas API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Vercel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429000" y="1600200"/>
            <a:ext cx="2697480" cy="2880360"/>
          </a:xfrm>
          <a:prstGeom prst="roundRect">
            <a:avLst>
              <a:gd name="adj" fmla="val 2712"/>
            </a:avLst>
          </a:prstGeom>
          <a:solidFill>
            <a:srgbClr val="141A24"/>
          </a:solidFill>
          <a:ln/>
        </p:spPr>
      </p:sp>
      <p:sp>
        <p:nvSpPr>
          <p:cNvPr id="12" name="Shape 8"/>
          <p:cNvSpPr/>
          <p:nvPr/>
        </p:nvSpPr>
        <p:spPr>
          <a:xfrm>
            <a:off x="3657600" y="1828800"/>
            <a:ext cx="502920" cy="502920"/>
          </a:xfrm>
          <a:prstGeom prst="ellipse">
            <a:avLst/>
          </a:prstGeom>
          <a:solidFill>
            <a:srgbClr val="FE9114"/>
          </a:solidFill>
          <a:ln/>
        </p:spPr>
      </p:sp>
      <p:pic>
        <p:nvPicPr>
          <p:cNvPr id="13" name="Image 2" descr="assets/server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2980" y="1894180"/>
            <a:ext cx="372161" cy="372161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657600" y="24505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50" dirty="0"/>
          </a:p>
        </p:txBody>
      </p:sp>
      <p:sp>
        <p:nvSpPr>
          <p:cNvPr id="15" name="Text 10"/>
          <p:cNvSpPr txBox="1"/>
          <p:nvPr/>
        </p:nvSpPr>
        <p:spPr>
          <a:xfrm>
            <a:off x="3657600" y="288036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+ Prisma ORM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(Supabase)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Render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309360" y="1600200"/>
            <a:ext cx="2697480" cy="2880360"/>
          </a:xfrm>
          <a:prstGeom prst="roundRect">
            <a:avLst>
              <a:gd name="adj" fmla="val 2712"/>
            </a:avLst>
          </a:prstGeom>
          <a:solidFill>
            <a:srgbClr val="141A24"/>
          </a:solidFill>
          <a:ln/>
        </p:spPr>
      </p:sp>
      <p:sp>
        <p:nvSpPr>
          <p:cNvPr id="17" name="Shape 12"/>
          <p:cNvSpPr/>
          <p:nvPr/>
        </p:nvSpPr>
        <p:spPr>
          <a:xfrm>
            <a:off x="6537960" y="1828800"/>
            <a:ext cx="502920" cy="502920"/>
          </a:xfrm>
          <a:prstGeom prst="ellipse">
            <a:avLst/>
          </a:prstGeom>
          <a:solidFill>
            <a:srgbClr val="FE9114"/>
          </a:solidFill>
          <a:ln/>
        </p:spPr>
      </p:sp>
      <p:pic>
        <p:nvPicPr>
          <p:cNvPr id="18" name="Image 3" descr="assets/users_d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3340" y="1894180"/>
            <a:ext cx="372161" cy="372161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537960" y="24505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450" dirty="0"/>
          </a:p>
        </p:txBody>
      </p:sp>
      <p:sp>
        <p:nvSpPr>
          <p:cNvPr id="20" name="Text 14"/>
          <p:cNvSpPr txBox="1"/>
          <p:nvPr/>
        </p:nvSpPr>
        <p:spPr>
          <a:xfrm>
            <a:off x="6537960" y="288036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OAuth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 OAuth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OAuth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9189720" y="1600200"/>
            <a:ext cx="2697480" cy="2880360"/>
          </a:xfrm>
          <a:prstGeom prst="roundRect">
            <a:avLst>
              <a:gd name="adj" fmla="val 2712"/>
            </a:avLst>
          </a:prstGeom>
          <a:solidFill>
            <a:srgbClr val="141A24"/>
          </a:solidFill>
          <a:ln/>
        </p:spPr>
      </p:sp>
      <p:sp>
        <p:nvSpPr>
          <p:cNvPr id="22" name="Shape 16"/>
          <p:cNvSpPr/>
          <p:nvPr/>
        </p:nvSpPr>
        <p:spPr>
          <a:xfrm>
            <a:off x="9418320" y="1828800"/>
            <a:ext cx="502920" cy="502920"/>
          </a:xfrm>
          <a:prstGeom prst="ellipse">
            <a:avLst/>
          </a:prstGeom>
          <a:solidFill>
            <a:srgbClr val="FE9114"/>
          </a:solidFill>
          <a:ln/>
        </p:spPr>
      </p:sp>
      <p:pic>
        <p:nvPicPr>
          <p:cNvPr id="23" name="Image 4" descr="assets/activity_dar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83700" y="1894180"/>
            <a:ext cx="372161" cy="372161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9418320" y="24505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450" dirty="0"/>
          </a:p>
        </p:txBody>
      </p:sp>
      <p:sp>
        <p:nvSpPr>
          <p:cNvPr id="25" name="Text 18"/>
          <p:cNvSpPr txBox="1"/>
          <p:nvPr/>
        </p:nvSpPr>
        <p:spPr>
          <a:xfrm>
            <a:off x="9418320" y="288036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 unit tests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strict compilation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end-to-end verification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548640" y="4754880"/>
            <a:ext cx="11109960" cy="1234440"/>
          </a:xfrm>
          <a:prstGeom prst="roundRect">
            <a:avLst>
              <a:gd name="adj" fmla="val 5926"/>
            </a:avLst>
          </a:prstGeom>
          <a:solidFill>
            <a:srgbClr val="182635"/>
          </a:solidFill>
          <a:ln/>
        </p:spPr>
      </p:sp>
      <p:sp>
        <p:nvSpPr>
          <p:cNvPr id="27" name="Shape 20"/>
          <p:cNvSpPr/>
          <p:nvPr/>
        </p:nvSpPr>
        <p:spPr>
          <a:xfrm>
            <a:off x="822960" y="5010912"/>
            <a:ext cx="548640" cy="548640"/>
          </a:xfrm>
          <a:prstGeom prst="ellipse">
            <a:avLst/>
          </a:prstGeom>
          <a:solidFill>
            <a:srgbClr val="FBB03B"/>
          </a:solidFill>
          <a:ln/>
        </p:spPr>
      </p:sp>
      <p:pic>
        <p:nvPicPr>
          <p:cNvPr id="28" name="Image 5" descr="assets/code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83" y="5082235"/>
            <a:ext cx="405994" cy="405994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508760" y="49560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BB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1100" dirty="0"/>
          </a:p>
        </p:txBody>
      </p:sp>
      <p:sp>
        <p:nvSpPr>
          <p:cNvPr id="30" name="Text 22"/>
          <p:cNvSpPr txBox="1"/>
          <p:nvPr/>
        </p:nvSpPr>
        <p:spPr>
          <a:xfrm>
            <a:off x="1508760" y="523036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apps/web/src/lib/crypto.ts  —  AES-256-GCM + PBKDF2 key derivation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apps/web/src/lib/steganography.ts  —  1-bit LSB embed / extract</a:t>
            </a:r>
            <a:endParaRPr lang="en-US" sz="1200" dirty="0"/>
          </a:p>
        </p:txBody>
      </p:sp>
      <p:sp>
        <p:nvSpPr>
          <p:cNvPr id="31" name="Text 23"/>
          <p:cNvSpPr txBox="1"/>
          <p:nvPr/>
        </p:nvSpPr>
        <p:spPr>
          <a:xfrm>
            <a:off x="457200" y="65196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STEGAVAULT</a:t>
            </a:r>
            <a:endParaRPr lang="en-US" sz="900" dirty="0"/>
          </a:p>
        </p:txBody>
      </p:sp>
      <p:sp>
        <p:nvSpPr>
          <p:cNvPr id="32" name="Text 24"/>
          <p:cNvSpPr txBox="1"/>
          <p:nvPr/>
        </p:nvSpPr>
        <p:spPr>
          <a:xfrm>
            <a:off x="3291840" y="65196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900" dirty="0"/>
          </a:p>
        </p:txBody>
      </p:sp>
      <p:sp>
        <p:nvSpPr>
          <p:cNvPr id="33" name="Text 25"/>
          <p:cNvSpPr txBox="1"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FE9114"/>
          </a:solidFill>
          <a:ln/>
        </p:spPr>
      </p:sp>
      <p:pic>
        <p:nvPicPr>
          <p:cNvPr id="3" name="Image 0" descr="assets/monitor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020" y="522580"/>
            <a:ext cx="372161" cy="37216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B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SCREENSHOTS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65836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Screenshot placeholders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1234440" y="122529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each dashed frame below with a real screenshot before presenting.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5440680" cy="1691640"/>
          </a:xfrm>
          <a:prstGeom prst="roundRect">
            <a:avLst>
              <a:gd name="adj" fmla="val 3243"/>
            </a:avLst>
          </a:prstGeom>
          <a:solidFill>
            <a:srgbClr val="141A24"/>
          </a:solidFill>
          <a:ln w="15875">
            <a:solidFill>
              <a:srgbClr val="6B7280"/>
            </a:solidFill>
            <a:prstDash val="dash"/>
          </a:ln>
        </p:spPr>
      </p:sp>
      <p:sp>
        <p:nvSpPr>
          <p:cNvPr id="8" name="Shape 5"/>
          <p:cNvSpPr/>
          <p:nvPr/>
        </p:nvSpPr>
        <p:spPr>
          <a:xfrm>
            <a:off x="2811780" y="1984248"/>
            <a:ext cx="548640" cy="548640"/>
          </a:xfrm>
          <a:prstGeom prst="ellipse">
            <a:avLst/>
          </a:prstGeom>
          <a:solidFill>
            <a:srgbClr val="6B7280"/>
          </a:solidFill>
          <a:ln/>
        </p:spPr>
      </p:sp>
      <p:pic>
        <p:nvPicPr>
          <p:cNvPr id="9" name="Image 1" descr="assets/imag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3103" y="2055571"/>
            <a:ext cx="405994" cy="40599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22960" y="2679192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screenshot: Login / OAuth Screen ]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172200" y="1691640"/>
            <a:ext cx="5440680" cy="1691640"/>
          </a:xfrm>
          <a:prstGeom prst="roundRect">
            <a:avLst>
              <a:gd name="adj" fmla="val 3243"/>
            </a:avLst>
          </a:prstGeom>
          <a:solidFill>
            <a:srgbClr val="141A24"/>
          </a:solidFill>
          <a:ln w="15875">
            <a:solidFill>
              <a:srgbClr val="6B7280"/>
            </a:solidFill>
            <a:prstDash val="dash"/>
          </a:ln>
        </p:spPr>
      </p:sp>
      <p:sp>
        <p:nvSpPr>
          <p:cNvPr id="12" name="Shape 8"/>
          <p:cNvSpPr/>
          <p:nvPr/>
        </p:nvSpPr>
        <p:spPr>
          <a:xfrm>
            <a:off x="8435340" y="1984248"/>
            <a:ext cx="548640" cy="548640"/>
          </a:xfrm>
          <a:prstGeom prst="ellipse">
            <a:avLst/>
          </a:prstGeom>
          <a:solidFill>
            <a:srgbClr val="6B7280"/>
          </a:solidFill>
          <a:ln/>
        </p:spPr>
      </p:sp>
      <p:pic>
        <p:nvPicPr>
          <p:cNvPr id="13" name="Image 2" descr="assets/imag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6663" y="2055571"/>
            <a:ext cx="405994" cy="40599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446520" y="2679192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screenshot: Encrypt &amp; Embed Flow ]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548640" y="3566160"/>
            <a:ext cx="5440680" cy="1691640"/>
          </a:xfrm>
          <a:prstGeom prst="roundRect">
            <a:avLst>
              <a:gd name="adj" fmla="val 3243"/>
            </a:avLst>
          </a:prstGeom>
          <a:solidFill>
            <a:srgbClr val="141A24"/>
          </a:solidFill>
          <a:ln w="15875">
            <a:solidFill>
              <a:srgbClr val="6B7280"/>
            </a:solidFill>
            <a:prstDash val="dash"/>
          </a:ln>
        </p:spPr>
      </p:sp>
      <p:sp>
        <p:nvSpPr>
          <p:cNvPr id="16" name="Shape 11"/>
          <p:cNvSpPr/>
          <p:nvPr/>
        </p:nvSpPr>
        <p:spPr>
          <a:xfrm>
            <a:off x="2811780" y="3858768"/>
            <a:ext cx="548640" cy="548640"/>
          </a:xfrm>
          <a:prstGeom prst="ellipse">
            <a:avLst/>
          </a:prstGeom>
          <a:solidFill>
            <a:srgbClr val="6B7280"/>
          </a:solidFill>
          <a:ln/>
        </p:spPr>
      </p:sp>
      <p:pic>
        <p:nvPicPr>
          <p:cNvPr id="17" name="Image 3" descr="assets/imag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3103" y="3930091"/>
            <a:ext cx="405994" cy="40599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22960" y="4553712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screenshot: Decrypt &amp; Recover Flow ]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172200" y="3566160"/>
            <a:ext cx="5440680" cy="1691640"/>
          </a:xfrm>
          <a:prstGeom prst="roundRect">
            <a:avLst>
              <a:gd name="adj" fmla="val 3243"/>
            </a:avLst>
          </a:prstGeom>
          <a:solidFill>
            <a:srgbClr val="141A24"/>
          </a:solidFill>
          <a:ln w="15875">
            <a:solidFill>
              <a:srgbClr val="6B7280"/>
            </a:solidFill>
            <a:prstDash val="dash"/>
          </a:ln>
        </p:spPr>
      </p:sp>
      <p:sp>
        <p:nvSpPr>
          <p:cNvPr id="20" name="Shape 14"/>
          <p:cNvSpPr/>
          <p:nvPr/>
        </p:nvSpPr>
        <p:spPr>
          <a:xfrm>
            <a:off x="8435340" y="3858768"/>
            <a:ext cx="548640" cy="548640"/>
          </a:xfrm>
          <a:prstGeom prst="ellipse">
            <a:avLst/>
          </a:prstGeom>
          <a:solidFill>
            <a:srgbClr val="6B7280"/>
          </a:solidFill>
          <a:ln/>
        </p:spPr>
      </p:sp>
      <p:pic>
        <p:nvPicPr>
          <p:cNvPr id="21" name="Image 4" descr="assets/imag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6663" y="3930091"/>
            <a:ext cx="405994" cy="40599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446520" y="4553712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screenshot: Vault Dashboard ]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548640" y="5486400"/>
            <a:ext cx="11109960" cy="777240"/>
          </a:xfrm>
          <a:prstGeom prst="roundRect">
            <a:avLst>
              <a:gd name="adj" fmla="val 9412"/>
            </a:avLst>
          </a:prstGeom>
          <a:solidFill>
            <a:srgbClr val="182635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822960" y="54864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result: full encrypt → embed → extract → decrypt pipeline verified byte-for-byte, with wrong-passphrase attempts correctly rejected.</a:t>
            </a:r>
            <a:endParaRPr lang="en-US" sz="1250" dirty="0"/>
          </a:p>
        </p:txBody>
      </p:sp>
      <p:sp>
        <p:nvSpPr>
          <p:cNvPr id="25" name="Text 18"/>
          <p:cNvSpPr txBox="1"/>
          <p:nvPr/>
        </p:nvSpPr>
        <p:spPr>
          <a:xfrm>
            <a:off x="457200" y="65196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STEGAVAULT</a:t>
            </a:r>
            <a:endParaRPr lang="en-US" sz="900" dirty="0"/>
          </a:p>
        </p:txBody>
      </p:sp>
      <p:sp>
        <p:nvSpPr>
          <p:cNvPr id="26" name="Text 19"/>
          <p:cNvSpPr txBox="1"/>
          <p:nvPr/>
        </p:nvSpPr>
        <p:spPr>
          <a:xfrm>
            <a:off x="3291840" y="65196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Screenshots</a:t>
            </a:r>
            <a:endParaRPr lang="en-US" sz="900" dirty="0"/>
          </a:p>
        </p:txBody>
      </p:sp>
      <p:sp>
        <p:nvSpPr>
          <p:cNvPr id="27" name="Text 20"/>
          <p:cNvSpPr txBox="1"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FE9114"/>
          </a:solidFill>
          <a:ln/>
        </p:spPr>
      </p:sp>
      <p:pic>
        <p:nvPicPr>
          <p:cNvPr id="3" name="Image 0" descr="assets/check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020" y="522580"/>
            <a:ext cx="372161" cy="37216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B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VALIDATION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65836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Verified, not assumed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141A2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85800" y="1709928"/>
            <a:ext cx="237744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E91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/ 5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563978"/>
            <a:ext cx="237744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passing (Vitest)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83280" y="16002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141A24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520440" y="1709928"/>
            <a:ext cx="237744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BB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3520440" y="2563978"/>
            <a:ext cx="237744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compile errors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217920" y="16002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141A2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355080" y="1709928"/>
            <a:ext cx="237744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E91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6355080" y="2563978"/>
            <a:ext cx="237744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Byte-for-byte round-trip accuracy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9052560" y="16002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141A24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9189720" y="1709928"/>
            <a:ext cx="237744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BB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/ 2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9189720" y="2563978"/>
            <a:ext cx="237744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cases correctly rejected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48640" y="3429000"/>
            <a:ext cx="11109960" cy="2514600"/>
          </a:xfrm>
          <a:prstGeom prst="roundRect">
            <a:avLst>
              <a:gd name="adj" fmla="val 2909"/>
            </a:avLst>
          </a:prstGeom>
          <a:solidFill>
            <a:srgbClr val="141A24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22960" y="3611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FBB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INDEPENDENTLY VERIFIED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822960" y="3977640"/>
            <a:ext cx="10424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→ decrypt with the correct passphrase returns the exact original file.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Decrypting with the wrong passphrase fails immediately with a clear, visible error — GCM authentication tag check.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into a real cover image, then extracting, returns bytes that exactly match what was embedded.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a payload larger than the cover image's capacity is correctly rejected with a descriptive error, not silent corruption.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(file → encrypt → embed → extract → decrypt → original file) confirmed end-to-end, and both frontend and backend build cleanly with zero errors.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65196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STEGAVAULT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3291840" y="65196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Validation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FE9114"/>
          </a:solidFill>
          <a:ln/>
        </p:spPr>
      </p:sp>
      <p:pic>
        <p:nvPicPr>
          <p:cNvPr id="3" name="Image 0" descr="assets/flag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020" y="522580"/>
            <a:ext cx="372161" cy="37216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B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65836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project stands, and what's next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182635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BB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1488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StegaVault demonstrates a working, independently verified, zero-knowledge encryption and steganography pipeline that runs entirely in the browser — with a scalable backend architecture already designed for the next phase of persistent storage.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72200" y="1600200"/>
            <a:ext cx="5440680" cy="4297680"/>
          </a:xfrm>
          <a:prstGeom prst="roundRect">
            <a:avLst>
              <a:gd name="adj" fmla="val 1702"/>
            </a:avLst>
          </a:prstGeom>
          <a:solidFill>
            <a:srgbClr val="141A24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4652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BB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446520" y="214884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persistent, multi-device storage using the existing S3 + Prisma schema.</a:t>
            </a:r>
            <a:endParaRPr lang="en-US" sz="13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steganography against statistical steganalysis (adaptive / spread-spectrum embedding).</a:t>
            </a:r>
            <a:endParaRPr lang="en-US" sz="13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audit logging, rate limiting, and brute-force lockout protection.</a:t>
            </a:r>
            <a:endParaRPr lang="en-US" sz="13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a mobile app or browser extension.</a:t>
            </a:r>
            <a:endParaRPr lang="en-US" sz="13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additional cover-file types, such as audio and video.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5196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STEGAVAULT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3291840" y="65196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FE9114"/>
          </a:solidFill>
          <a:ln/>
        </p:spPr>
      </p:sp>
      <p:pic>
        <p:nvPicPr>
          <p:cNvPr id="3" name="Image 0" descr="assets/book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020" y="522580"/>
            <a:ext cx="372161" cy="37216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B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65836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Standards and technical foundations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9164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E9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051560" y="16916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Institute of Standards and Technology (NIST), FIPS 197 — Advanced Encryption Standard (AES).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46888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E9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051560" y="24688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Special Publication 800-132 — Recommendation for Password-Based Key Derivation (PBKDF2).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24612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E9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051560" y="32461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W3C Web Cryptography API Specification — defines the crypto.subtle interface used for client-side encryption.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402336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E9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051560" y="40233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Chandramouli and N. Memon, “Analysis of LSB Based Image Steganography Techniques,” IEEE International Conference on Image Processing (ICIP), 2001.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4937760"/>
            <a:ext cx="11109960" cy="777240"/>
          </a:xfrm>
          <a:prstGeom prst="roundRect">
            <a:avLst>
              <a:gd name="adj" fmla="val 9412"/>
            </a:avLst>
          </a:prstGeom>
          <a:solidFill>
            <a:srgbClr val="141A24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specific papers from your course-required literature survey here.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196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STEGAVAULT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3291840" y="65196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noise_dark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-1828800" y="2286000"/>
            <a:ext cx="5486400" cy="5486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14416" y="1554480"/>
            <a:ext cx="731520" cy="731520"/>
          </a:xfrm>
          <a:prstGeom prst="ellipse">
            <a:avLst/>
          </a:prstGeom>
          <a:solidFill>
            <a:srgbClr val="FE9114"/>
          </a:solidFill>
          <a:ln/>
        </p:spPr>
      </p:sp>
      <p:pic>
        <p:nvPicPr>
          <p:cNvPr id="4" name="Image 1" descr="assets/shield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9514" y="1649578"/>
            <a:ext cx="541325" cy="54132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0" y="2423160"/>
            <a:ext cx="12188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Text 2"/>
          <p:cNvSpPr txBox="1"/>
          <p:nvPr/>
        </p:nvSpPr>
        <p:spPr>
          <a:xfrm>
            <a:off x="0" y="333756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BB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3108960" y="4160520"/>
            <a:ext cx="5943600" cy="1600200"/>
          </a:xfrm>
          <a:prstGeom prst="roundRect">
            <a:avLst>
              <a:gd name="adj" fmla="val 4571"/>
            </a:avLst>
          </a:prstGeom>
          <a:solidFill>
            <a:srgbClr val="141A24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3383280" y="437083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Naveen K  •  Likhith Kumar R P  •  Mahamad Usen  •  Akash B V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3383280" y="473659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 Prof. Sheela Rani C M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3383280" y="51663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9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github.com/naveenk4250-code/stegavault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65196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STEGAVAULT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1571</Words>
  <Application>Microsoft Office PowerPoint</Application>
  <PresentationFormat>Widescreen</PresentationFormat>
  <Paragraphs>254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Naveen K</cp:lastModifiedBy>
  <cp:revision>1</cp:revision>
  <dcterms:created xsi:type="dcterms:W3CDTF">2026-09-15T10:32:55Z</dcterms:created>
  <dcterms:modified xsi:type="dcterms:W3CDTF">2026-09-21T10:45:39Z</dcterms:modified>
</cp:coreProperties>
</file>